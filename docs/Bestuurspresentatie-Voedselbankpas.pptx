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Vertel in één zin wat het is: een app waarmee een klant zijn gegevens één keer invult en op vrijdag alleen een QR-code laat zien. De vrijwilliger scant die en ziet meteen wie er staat, welk pakket en welke wensen. Zeg dat de app al werkt en dat u hem zo laat zien.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Vertel dit vanuit de vrijdag. De drie problemen zijn concreet en herkenbaar voor iedereen die weleens bij een uitdeling is geweest. Benadruk dat de app níét bedoeld is om de intake of het toelatingsbeleid te veranderen — alleen om de vrijdag soepeler te laten lopen.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Twee kanten van dezelfde tafel. Links wat de klant ziet, rechts wat de vrijwilliger ziet. Het Arabisch is niet alleen vertaald: de hele app klapt om naar rechts-naar-links. Nieuwe klanten worden eerst goedgekeurd door een beheerder voordat hun pas werkt — dus de intake blijft in handen van de Voedselbank.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diensten, allemaal gratis in de huidige omvang. De belangrijkste om te onthouden is Supabase: dat is de kluis, en die staat in Frankfurt. GitHub is nog niet gebruikt — de code staat op één laptop. Dat is een risico dat we voor weinig moeite kunnen wegnemen.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Wees open over de AI-assistent: die heeft de code geschreven en mee gezocht naar fouten, onder aansturing en met alle keuzes door de bouwer. Stap 4 is het belangrijkst: de app is niet "in theorie klaar" maar getest tegen de echte database, inclusief de beveiligingsregels. Bij stap 6 kunt u vertellen dat de eerste mailprovider (Brevo) afviel omdat die alleen verbindingen toestaat vanaf vaste computers — en Supabase verstuurt vanuit de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slide waar vragen komen. De kern: de scheiding wie-wat-ziet zit in de database zelf, dus ook een fout in de app kan geen gegevens lekken. Dit is getest: er is geprobeerd als klant bij andermans gegevens te komen, en als klant zichzelf tot beheerder te maken — allebei geblokkeerd. Wees eerlijk over de open punten: verwerkersovereenkomst en privacyverklaring zijn bestuurlijke stappen die nog moeten.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geen wensenlijst maar een stand van zaken. Alles hier is gebouwd én gedraaid. Laat de demo hierna het bewijs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 2 verdient uitleg. Zolang het domein niet gekoppeld is, komt de mail van een gedeeld testadres en gooit Gmail hem in de spammap — dat is getest. Het is bewust nog niet gedaan: die stap heeft pas zin als het bestuur akkoord is. Daarom staat hij hier als eerste concrete actie na vandaag.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het getal even staan. Het bestuur hoeft vandaag geen budget vrij te maken. Als de app groeit, is de eerste denkbare kostenpost Supabase à € 25 per maand — en dat is pas bij duizenden klanten.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Zet vóór de vergadering de laptop op het beamerscherm met de vrijwilligerskant open, en houd de telefoon met de klantpas bij de hand. Scan de telefoon met de webcam van de laptop. Als de camera hapert: typ het pasnummer in — dat is óók een functie die het waard is om te laten zien.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Drie concrete besluiten. Het eerste is het belangrijkste. Benadruk dat de papieren pas tijdens de proef gewoon blijft bestaan — niemand valt buiten de boot als de app hapert. Eindig met de zin onderaan: de app staat er al, alleen deze drie dingen ontbreken nog.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457200" y="502920"/>
            <a:ext cx="2651760" cy="868680"/>
          </a:xfrm>
          <a:prstGeom prst="roundRect">
            <a:avLst>
              <a:gd name="adj" fmla="val 12632"/>
            </a:avLst>
          </a:prstGeom>
          <a:solidFill>
            <a:srgbClr val="FFFFFF"/>
          </a:solidFill>
          <a:ln w="12700">
            <a:solidFill>
              <a:srgbClr val="FFFFFF"/>
            </a:solidFill>
            <a:prstDash val="solid"/>
          </a:ln>
        </p:spPr>
      </p:sp>
      <p:pic>
        <p:nvPicPr>
          <p:cNvPr id="3" name="Image 0" descr="C:/Users/leksi/Claude Code/voedselbank-app/assets/logo.png">    </p:cNvPr>
          <p:cNvPicPr>
            <a:picLocks noChangeAspect="1"/>
          </p:cNvPicPr>
          <p:nvPr/>
        </p:nvPicPr>
        <p:blipFill>
          <a:blip r:embed="rId1"/>
          <a:stretch>
            <a:fillRect/>
          </a:stretch>
        </p:blipFill>
        <p:spPr>
          <a:xfrm>
            <a:off x="640080" y="658368"/>
            <a:ext cx="2286000" cy="557784"/>
          </a:xfrm>
          <a:prstGeom prst="rect">
            <a:avLst/>
          </a:prstGeom>
        </p:spPr>
      </p:pic>
      <p:sp>
        <p:nvSpPr>
          <p:cNvPr id="4" name="Text 1"/>
          <p:cNvSpPr txBox="1"/>
          <p:nvPr/>
        </p:nvSpPr>
        <p:spPr>
          <a:xfrm>
            <a:off x="457200" y="1828800"/>
            <a:ext cx="8229600" cy="91440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Een pas op je telefoon</a:t>
            </a:r>
            <a:endParaRPr lang="en-US" sz="4200" dirty="0"/>
          </a:p>
        </p:txBody>
      </p:sp>
      <p:sp>
        <p:nvSpPr>
          <p:cNvPr id="5" name="Text 2"/>
          <p:cNvSpPr txBox="1"/>
          <p:nvPr/>
        </p:nvSpPr>
        <p:spPr>
          <a:xfrm>
            <a:off x="457200" y="2743200"/>
            <a:ext cx="6858000" cy="731520"/>
          </a:xfrm>
          <a:prstGeom prst="rect">
            <a:avLst/>
          </a:prstGeom>
          <a:noFill/>
          <a:ln/>
        </p:spPr>
        <p:txBody>
          <a:bodyPr wrap="square" lIns="0" tIns="0" rIns="0" bIns="0" rtlCol="0" anchor="ctr"/>
          <a:lstStyle/>
          <a:p>
            <a:pPr indent="0" marL="0">
              <a:buNone/>
            </a:pPr>
            <a:r>
              <a:rPr lang="en-US" sz="1800" dirty="0">
                <a:solidFill>
                  <a:srgbClr val="D9D2CA"/>
                </a:solidFill>
                <a:latin typeface="Calibri" pitchFamily="34" charset="0"/>
                <a:ea typeface="Calibri" pitchFamily="34" charset="-122"/>
                <a:cs typeface="Calibri" pitchFamily="34" charset="-120"/>
              </a:rPr>
              <a:t>Voorstel voor een app voor klanten en vrijwilligers van Voedselbank Haarlemmermeer</a:t>
            </a:r>
            <a:endParaRPr lang="en-US" sz="1800" dirty="0"/>
          </a:p>
        </p:txBody>
      </p:sp>
      <p:sp>
        <p:nvSpPr>
          <p:cNvPr id="6" name="Text 3"/>
          <p:cNvSpPr txBox="1"/>
          <p:nvPr/>
        </p:nvSpPr>
        <p:spPr>
          <a:xfrm>
            <a:off x="457200" y="4206240"/>
            <a:ext cx="5486400" cy="320040"/>
          </a:xfrm>
          <a:prstGeom prst="rect">
            <a:avLst/>
          </a:prstGeom>
          <a:noFill/>
          <a:ln/>
        </p:spPr>
        <p:txBody>
          <a:bodyPr wrap="square" lIns="0" tIns="0" rIns="0" bIns="0" rtlCol="0" anchor="ctr"/>
          <a:lstStyle/>
          <a:p>
            <a:pPr indent="0" marL="0">
              <a:buNone/>
            </a:pPr>
            <a:r>
              <a:rPr lang="en-US" sz="1200" dirty="0">
                <a:solidFill>
                  <a:srgbClr val="FF7212"/>
                </a:solidFill>
                <a:latin typeface="Calibri" pitchFamily="34" charset="0"/>
                <a:ea typeface="Calibri" pitchFamily="34" charset="-122"/>
                <a:cs typeface="Calibri" pitchFamily="34" charset="-120"/>
              </a:rPr>
              <a:t>Presentatie aan het bestuur  ·  september 2026</a:t>
            </a:r>
            <a:endParaRPr lang="en-US" sz="1200" dirty="0"/>
          </a:p>
        </p:txBody>
      </p:sp>
      <p:sp>
        <p:nvSpPr>
          <p:cNvPr id="7" name="Shape 4"/>
          <p:cNvSpPr/>
          <p:nvPr/>
        </p:nvSpPr>
        <p:spPr>
          <a:xfrm>
            <a:off x="7589520" y="3566160"/>
            <a:ext cx="1005840" cy="1005840"/>
          </a:xfrm>
          <a:prstGeom prst="ellipse">
            <a:avLst/>
          </a:prstGeom>
          <a:solidFill>
            <a:srgbClr val="FF7212"/>
          </a:solidFill>
          <a:ln w="12700">
            <a:solidFill>
              <a:srgbClr val="FF7212"/>
            </a:solidFill>
            <a:prstDash val="solid"/>
          </a:ln>
        </p:spPr>
      </p:sp>
      <p:pic>
        <p:nvPicPr>
          <p:cNvPr id="8" name="Image 1" descr="preencoded.png">    </p:cNvPr>
          <p:cNvPicPr>
            <a:picLocks noChangeAspect="1"/>
          </p:cNvPicPr>
          <p:nvPr/>
        </p:nvPicPr>
        <p:blipFill>
          <a:blip r:embed="rId2"/>
          <a:stretch>
            <a:fillRect/>
          </a:stretch>
        </p:blipFill>
        <p:spPr>
          <a:xfrm>
            <a:off x="7851038" y="3827678"/>
            <a:ext cx="482803" cy="4828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171310"/>
                </a:solidFill>
                <a:latin typeface="Arial" pitchFamily="34" charset="0"/>
                <a:ea typeface="Arial" pitchFamily="34" charset="-122"/>
                <a:cs typeface="Arial" pitchFamily="34" charset="-120"/>
              </a:rPr>
              <a:t>Waarom een app?</a:t>
            </a:r>
            <a:endParaRPr lang="en-US" sz="2800" dirty="0"/>
          </a:p>
        </p:txBody>
      </p:sp>
      <p:sp>
        <p:nvSpPr>
          <p:cNvPr id="3" name="Shape 1"/>
          <p:cNvSpPr/>
          <p:nvPr/>
        </p:nvSpPr>
        <p:spPr>
          <a:xfrm>
            <a:off x="548640" y="1252728"/>
            <a:ext cx="566928" cy="566928"/>
          </a:xfrm>
          <a:prstGeom prst="ellipse">
            <a:avLst/>
          </a:prstGeom>
          <a:solidFill>
            <a:srgbClr val="FF7212"/>
          </a:solidFill>
          <a:ln w="12700">
            <a:solidFill>
              <a:srgbClr val="FF7212"/>
            </a:solidFill>
            <a:prstDash val="solid"/>
          </a:ln>
        </p:spPr>
      </p:sp>
      <p:pic>
        <p:nvPicPr>
          <p:cNvPr id="4" name="Image 0" descr="preencoded.png">    </p:cNvPr>
          <p:cNvPicPr>
            <a:picLocks noChangeAspect="1"/>
          </p:cNvPicPr>
          <p:nvPr/>
        </p:nvPicPr>
        <p:blipFill>
          <a:blip r:embed="rId1"/>
          <a:stretch>
            <a:fillRect/>
          </a:stretch>
        </p:blipFill>
        <p:spPr>
          <a:xfrm>
            <a:off x="696041" y="1400129"/>
            <a:ext cx="272125" cy="272125"/>
          </a:xfrm>
          <a:prstGeom prst="rect">
            <a:avLst/>
          </a:prstGeom>
        </p:spPr>
      </p:pic>
      <p:sp>
        <p:nvSpPr>
          <p:cNvPr id="5" name="Text 2"/>
          <p:cNvSpPr txBox="1"/>
          <p:nvPr/>
        </p:nvSpPr>
        <p:spPr>
          <a:xfrm>
            <a:off x="1316736" y="1234440"/>
            <a:ext cx="7095744" cy="274320"/>
          </a:xfrm>
          <a:prstGeom prst="rect">
            <a:avLst/>
          </a:prstGeom>
          <a:noFill/>
          <a:ln/>
        </p:spPr>
        <p:txBody>
          <a:bodyPr wrap="square" lIns="0" tIns="0" rIns="0" bIns="0" rtlCol="0" anchor="t"/>
          <a:lstStyle/>
          <a:p>
            <a:pPr indent="0" marL="0">
              <a:buNone/>
            </a:pPr>
            <a:r>
              <a:rPr lang="en-US" sz="1400" b="1" dirty="0">
                <a:solidFill>
                  <a:srgbClr val="171310"/>
                </a:solidFill>
                <a:latin typeface="Arial" pitchFamily="34" charset="0"/>
                <a:ea typeface="Arial" pitchFamily="34" charset="-122"/>
                <a:cs typeface="Arial" pitchFamily="34" charset="-120"/>
              </a:rPr>
              <a:t>De papieren pas</a:t>
            </a:r>
            <a:endParaRPr lang="en-US" sz="1400" dirty="0"/>
          </a:p>
        </p:txBody>
      </p:sp>
      <p:sp>
        <p:nvSpPr>
          <p:cNvPr id="6" name="Text 3"/>
          <p:cNvSpPr txBox="1"/>
          <p:nvPr/>
        </p:nvSpPr>
        <p:spPr>
          <a:xfrm>
            <a:off x="1316736" y="1508760"/>
            <a:ext cx="7095744" cy="685800"/>
          </a:xfrm>
          <a:prstGeom prst="rect">
            <a:avLst/>
          </a:prstGeom>
          <a:noFill/>
          <a:ln/>
        </p:spPr>
        <p:txBody>
          <a:bodyPr wrap="square" lIns="0" tIns="0" rIns="0" bIns="0" rtlCol="0" anchor="t"/>
          <a:lstStyle/>
          <a:p>
            <a:pPr indent="0" marL="0">
              <a:buNone/>
            </a:pPr>
            <a:r>
              <a:rPr lang="en-US" sz="1250" dirty="0">
                <a:solidFill>
                  <a:srgbClr val="6E655C"/>
                </a:solidFill>
                <a:latin typeface="Calibri" pitchFamily="34" charset="0"/>
                <a:ea typeface="Calibri" pitchFamily="34" charset="-122"/>
                <a:cs typeface="Calibri" pitchFamily="34" charset="-120"/>
              </a:rPr>
              <a:t>Elke vrijdag zoeken in mappen: wie is dit, welk pakket hoort erbij, zijn er bijzondere wensen? Dat kost tijd aan de balie — en de rij wacht.</a:t>
            </a:r>
            <a:endParaRPr lang="en-US" sz="1250" dirty="0"/>
          </a:p>
        </p:txBody>
      </p:sp>
      <p:sp>
        <p:nvSpPr>
          <p:cNvPr id="7" name="Shape 4"/>
          <p:cNvSpPr/>
          <p:nvPr/>
        </p:nvSpPr>
        <p:spPr>
          <a:xfrm>
            <a:off x="548640" y="2395728"/>
            <a:ext cx="566928" cy="566928"/>
          </a:xfrm>
          <a:prstGeom prst="ellipse">
            <a:avLst/>
          </a:prstGeom>
          <a:solidFill>
            <a:srgbClr val="FF7212"/>
          </a:solidFill>
          <a:ln w="12700">
            <a:solidFill>
              <a:srgbClr val="FF7212"/>
            </a:solidFill>
            <a:prstDash val="solid"/>
          </a:ln>
        </p:spPr>
      </p:sp>
      <p:pic>
        <p:nvPicPr>
          <p:cNvPr id="8" name="Image 1" descr="preencoded.png">    </p:cNvPr>
          <p:cNvPicPr>
            <a:picLocks noChangeAspect="1"/>
          </p:cNvPicPr>
          <p:nvPr/>
        </p:nvPicPr>
        <p:blipFill>
          <a:blip r:embed="rId2"/>
          <a:stretch>
            <a:fillRect/>
          </a:stretch>
        </p:blipFill>
        <p:spPr>
          <a:xfrm>
            <a:off x="696041" y="2543129"/>
            <a:ext cx="272125" cy="272125"/>
          </a:xfrm>
          <a:prstGeom prst="rect">
            <a:avLst/>
          </a:prstGeom>
        </p:spPr>
      </p:pic>
      <p:sp>
        <p:nvSpPr>
          <p:cNvPr id="9" name="Text 5"/>
          <p:cNvSpPr txBox="1"/>
          <p:nvPr/>
        </p:nvSpPr>
        <p:spPr>
          <a:xfrm>
            <a:off x="1316736" y="2377440"/>
            <a:ext cx="7095744" cy="274320"/>
          </a:xfrm>
          <a:prstGeom prst="rect">
            <a:avLst/>
          </a:prstGeom>
          <a:noFill/>
          <a:ln/>
        </p:spPr>
        <p:txBody>
          <a:bodyPr wrap="square" lIns="0" tIns="0" rIns="0" bIns="0" rtlCol="0" anchor="t"/>
          <a:lstStyle/>
          <a:p>
            <a:pPr indent="0" marL="0">
              <a:buNone/>
            </a:pPr>
            <a:r>
              <a:rPr lang="en-US" sz="1400" b="1" dirty="0">
                <a:solidFill>
                  <a:srgbClr val="171310"/>
                </a:solidFill>
                <a:latin typeface="Arial" pitchFamily="34" charset="0"/>
                <a:ea typeface="Arial" pitchFamily="34" charset="-122"/>
                <a:cs typeface="Arial" pitchFamily="34" charset="-120"/>
              </a:rPr>
              <a:t>De loods weet het niet</a:t>
            </a:r>
            <a:endParaRPr lang="en-US" sz="1400" dirty="0"/>
          </a:p>
        </p:txBody>
      </p:sp>
      <p:sp>
        <p:nvSpPr>
          <p:cNvPr id="10" name="Text 6"/>
          <p:cNvSpPr txBox="1"/>
          <p:nvPr/>
        </p:nvSpPr>
        <p:spPr>
          <a:xfrm>
            <a:off x="1316736" y="2651760"/>
            <a:ext cx="7095744" cy="685800"/>
          </a:xfrm>
          <a:prstGeom prst="rect">
            <a:avLst/>
          </a:prstGeom>
          <a:noFill/>
          <a:ln/>
        </p:spPr>
        <p:txBody>
          <a:bodyPr wrap="square" lIns="0" tIns="0" rIns="0" bIns="0" rtlCol="0" anchor="t"/>
          <a:lstStyle/>
          <a:p>
            <a:pPr indent="0" marL="0">
              <a:buNone/>
            </a:pPr>
            <a:r>
              <a:rPr lang="en-US" sz="1250" dirty="0">
                <a:solidFill>
                  <a:srgbClr val="6E655C"/>
                </a:solidFill>
                <a:latin typeface="Calibri" pitchFamily="34" charset="0"/>
                <a:ea typeface="Calibri" pitchFamily="34" charset="-122"/>
                <a:cs typeface="Calibri" pitchFamily="34" charset="-120"/>
              </a:rPr>
              <a:t>Halal, een notenallergie, babyvoeding: die informatie zit bij de intake, niet bij degene die het pakket klaarzet. Dus wordt er heen en weer gelopen.</a:t>
            </a:r>
            <a:endParaRPr lang="en-US" sz="1250" dirty="0"/>
          </a:p>
        </p:txBody>
      </p:sp>
      <p:sp>
        <p:nvSpPr>
          <p:cNvPr id="11" name="Shape 7"/>
          <p:cNvSpPr/>
          <p:nvPr/>
        </p:nvSpPr>
        <p:spPr>
          <a:xfrm>
            <a:off x="548640" y="3538728"/>
            <a:ext cx="566928" cy="566928"/>
          </a:xfrm>
          <a:prstGeom prst="ellipse">
            <a:avLst/>
          </a:prstGeom>
          <a:solidFill>
            <a:srgbClr val="FF7212"/>
          </a:solidFill>
          <a:ln w="12700">
            <a:solidFill>
              <a:srgbClr val="FF7212"/>
            </a:solidFill>
            <a:prstDash val="solid"/>
          </a:ln>
        </p:spPr>
      </p:sp>
      <p:pic>
        <p:nvPicPr>
          <p:cNvPr id="12" name="Image 2" descr="preencoded.png">    </p:cNvPr>
          <p:cNvPicPr>
            <a:picLocks noChangeAspect="1"/>
          </p:cNvPicPr>
          <p:nvPr/>
        </p:nvPicPr>
        <p:blipFill>
          <a:blip r:embed="rId3"/>
          <a:stretch>
            <a:fillRect/>
          </a:stretch>
        </p:blipFill>
        <p:spPr>
          <a:xfrm>
            <a:off x="696041" y="3686129"/>
            <a:ext cx="272125" cy="272125"/>
          </a:xfrm>
          <a:prstGeom prst="rect">
            <a:avLst/>
          </a:prstGeom>
        </p:spPr>
      </p:pic>
      <p:sp>
        <p:nvSpPr>
          <p:cNvPr id="13" name="Text 8"/>
          <p:cNvSpPr txBox="1"/>
          <p:nvPr/>
        </p:nvSpPr>
        <p:spPr>
          <a:xfrm>
            <a:off x="1316736" y="3520440"/>
            <a:ext cx="7095744" cy="274320"/>
          </a:xfrm>
          <a:prstGeom prst="rect">
            <a:avLst/>
          </a:prstGeom>
          <a:noFill/>
          <a:ln/>
        </p:spPr>
        <p:txBody>
          <a:bodyPr wrap="square" lIns="0" tIns="0" rIns="0" bIns="0" rtlCol="0" anchor="t"/>
          <a:lstStyle/>
          <a:p>
            <a:pPr indent="0" marL="0">
              <a:buNone/>
            </a:pPr>
            <a:r>
              <a:rPr lang="en-US" sz="1400" b="1" dirty="0">
                <a:solidFill>
                  <a:srgbClr val="171310"/>
                </a:solidFill>
                <a:latin typeface="Arial" pitchFamily="34" charset="0"/>
                <a:ea typeface="Arial" pitchFamily="34" charset="-122"/>
                <a:cs typeface="Arial" pitchFamily="34" charset="-120"/>
              </a:rPr>
              <a:t>Geen kanaal naar de klanten</a:t>
            </a:r>
            <a:endParaRPr lang="en-US" sz="1400" dirty="0"/>
          </a:p>
        </p:txBody>
      </p:sp>
      <p:sp>
        <p:nvSpPr>
          <p:cNvPr id="14" name="Text 9"/>
          <p:cNvSpPr txBox="1"/>
          <p:nvPr/>
        </p:nvSpPr>
        <p:spPr>
          <a:xfrm>
            <a:off x="1316736" y="3794760"/>
            <a:ext cx="7095744" cy="685800"/>
          </a:xfrm>
          <a:prstGeom prst="rect">
            <a:avLst/>
          </a:prstGeom>
          <a:noFill/>
          <a:ln/>
        </p:spPr>
        <p:txBody>
          <a:bodyPr wrap="square" lIns="0" tIns="0" rIns="0" bIns="0" rtlCol="0" anchor="t"/>
          <a:lstStyle/>
          <a:p>
            <a:pPr indent="0" marL="0">
              <a:buNone/>
            </a:pPr>
            <a:r>
              <a:rPr lang="en-US" sz="1250" dirty="0">
                <a:solidFill>
                  <a:srgbClr val="6E655C"/>
                </a:solidFill>
                <a:latin typeface="Calibri" pitchFamily="34" charset="0"/>
                <a:ea typeface="Calibri" pitchFamily="34" charset="-122"/>
                <a:cs typeface="Calibri" pitchFamily="34" charset="-120"/>
              </a:rPr>
              <a:t>Dicht met kerst, een extra uitdeling, een verschoven tijd: er is geen manier om alle klanten in één keer te bereiken. Nu horen ze het op de dag zelf.</a:t>
            </a:r>
            <a:endParaRPr lang="en-US" sz="1250" dirty="0"/>
          </a:p>
        </p:txBody>
      </p:sp>
      <p:sp>
        <p:nvSpPr>
          <p:cNvPr id="15" name="Text 10"/>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968C83"/>
                </a:solidFill>
                <a:latin typeface="Calibri" pitchFamily="34" charset="0"/>
                <a:ea typeface="Calibri" pitchFamily="34" charset="-122"/>
                <a:cs typeface="Calibri" pitchFamily="34" charset="-120"/>
              </a:rPr>
              <a:t>Drie problemen uit de praktijk van de uitdeling. De app is voor deze drie gebouwd — niet meer, niet minder.</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171310"/>
                </a:solidFill>
                <a:latin typeface="Arial" pitchFamily="34" charset="0"/>
                <a:ea typeface="Arial" pitchFamily="34" charset="-122"/>
                <a:cs typeface="Arial" pitchFamily="34" charset="-120"/>
              </a:rPr>
              <a:t>Wat de app doet</a:t>
            </a:r>
            <a:endParaRPr lang="en-US" sz="2800" dirty="0"/>
          </a:p>
        </p:txBody>
      </p:sp>
      <p:sp>
        <p:nvSpPr>
          <p:cNvPr id="3" name="Shape 1"/>
          <p:cNvSpPr/>
          <p:nvPr/>
        </p:nvSpPr>
        <p:spPr>
          <a:xfrm>
            <a:off x="457200" y="1188720"/>
            <a:ext cx="3977640" cy="3017520"/>
          </a:xfrm>
          <a:prstGeom prst="roundRect">
            <a:avLst>
              <a:gd name="adj" fmla="val 3636"/>
            </a:avLst>
          </a:prstGeom>
          <a:solidFill>
            <a:srgbClr val="FFFFFF"/>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685800" y="1389888"/>
            <a:ext cx="502920" cy="502920"/>
          </a:xfrm>
          <a:prstGeom prst="ellipse">
            <a:avLst/>
          </a:prstGeom>
          <a:solidFill>
            <a:srgbClr val="FF7212"/>
          </a:solidFill>
          <a:ln w="12700">
            <a:solidFill>
              <a:srgbClr val="FF7212"/>
            </a:solidFill>
            <a:prstDash val="solid"/>
          </a:ln>
        </p:spPr>
      </p:sp>
      <p:pic>
        <p:nvPicPr>
          <p:cNvPr id="5" name="Image 0" descr="preencoded.png">    </p:cNvPr>
          <p:cNvPicPr>
            <a:picLocks noChangeAspect="1"/>
          </p:cNvPicPr>
          <p:nvPr/>
        </p:nvPicPr>
        <p:blipFill>
          <a:blip r:embed="rId1"/>
          <a:stretch>
            <a:fillRect/>
          </a:stretch>
        </p:blipFill>
        <p:spPr>
          <a:xfrm>
            <a:off x="816559" y="1520647"/>
            <a:ext cx="241402" cy="241402"/>
          </a:xfrm>
          <a:prstGeom prst="rect">
            <a:avLst/>
          </a:prstGeom>
        </p:spPr>
      </p:pic>
      <p:sp>
        <p:nvSpPr>
          <p:cNvPr id="6" name="Text 3"/>
          <p:cNvSpPr txBox="1"/>
          <p:nvPr/>
        </p:nvSpPr>
        <p:spPr>
          <a:xfrm>
            <a:off x="1325880" y="1389888"/>
            <a:ext cx="2926080" cy="502920"/>
          </a:xfrm>
          <a:prstGeom prst="rect">
            <a:avLst/>
          </a:prstGeom>
          <a:noFill/>
          <a:ln/>
        </p:spPr>
        <p:txBody>
          <a:bodyPr wrap="square" lIns="0" tIns="0" rIns="0" bIns="0" rtlCol="0" anchor="ctr"/>
          <a:lstStyle/>
          <a:p>
            <a:pPr indent="0" marL="0">
              <a:buNone/>
            </a:pPr>
            <a:r>
              <a:rPr lang="en-US" sz="1600" b="1" dirty="0">
                <a:solidFill>
                  <a:srgbClr val="171310"/>
                </a:solidFill>
                <a:latin typeface="Arial" pitchFamily="34" charset="0"/>
                <a:ea typeface="Arial" pitchFamily="34" charset="-122"/>
                <a:cs typeface="Arial" pitchFamily="34" charset="-120"/>
              </a:rPr>
              <a:t>Voor de klant</a:t>
            </a:r>
            <a:endParaRPr lang="en-US" sz="1600" dirty="0"/>
          </a:p>
        </p:txBody>
      </p:sp>
      <p:sp>
        <p:nvSpPr>
          <p:cNvPr id="7" name="Text 4"/>
          <p:cNvSpPr txBox="1"/>
          <p:nvPr/>
        </p:nvSpPr>
        <p:spPr>
          <a:xfrm>
            <a:off x="685800" y="2011680"/>
            <a:ext cx="356616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71310"/>
                </a:solidFill>
                <a:latin typeface="Calibri" pitchFamily="34" charset="0"/>
                <a:ea typeface="Calibri" pitchFamily="34" charset="-122"/>
                <a:cs typeface="Calibri" pitchFamily="34" charset="-120"/>
              </a:rPr>
              <a:t>Vult één keer zijn gegevens in: naam, adres, gezin, wensen</a:t>
            </a:r>
            <a:endParaRPr lang="en-US" sz="1250" dirty="0"/>
          </a:p>
          <a:p>
            <a:pPr marL="342900" indent="-342900">
              <a:spcAft>
                <a:spcPts val="600"/>
              </a:spcAft>
              <a:buSzPct val="100000"/>
              <a:buChar char="•"/>
            </a:pPr>
            <a:r>
              <a:rPr lang="en-US" sz="1250" dirty="0">
                <a:solidFill>
                  <a:srgbClr val="171310"/>
                </a:solidFill>
                <a:latin typeface="Calibri" pitchFamily="34" charset="0"/>
                <a:ea typeface="Calibri" pitchFamily="34" charset="-122"/>
                <a:cs typeface="Calibri" pitchFamily="34" charset="-120"/>
              </a:rPr>
              <a:t>Krijgt een QR-pas op de telefoon — die laat hij zien bij de intake</a:t>
            </a:r>
            <a:endParaRPr lang="en-US" sz="1250" dirty="0"/>
          </a:p>
          <a:p>
            <a:pPr marL="342900" indent="-342900">
              <a:spcAft>
                <a:spcPts val="600"/>
              </a:spcAft>
              <a:buSzPct val="100000"/>
              <a:buChar char="•"/>
            </a:pPr>
            <a:r>
              <a:rPr lang="en-US" sz="1250" dirty="0">
                <a:solidFill>
                  <a:srgbClr val="171310"/>
                </a:solidFill>
                <a:latin typeface="Calibri" pitchFamily="34" charset="0"/>
                <a:ea typeface="Calibri" pitchFamily="34" charset="-122"/>
                <a:cs typeface="Calibri" pitchFamily="34" charset="-120"/>
              </a:rPr>
              <a:t>Ziet nieuws van de Voedselbank en krijgt een melding bij iets belangrijks</a:t>
            </a:r>
            <a:endParaRPr lang="en-US" sz="1250" dirty="0"/>
          </a:p>
          <a:p>
            <a:pPr marL="342900" indent="-342900">
              <a:spcAft>
                <a:spcPts val="600"/>
              </a:spcAft>
              <a:buSzPct val="100000"/>
              <a:buChar char="•"/>
            </a:pPr>
            <a:r>
              <a:rPr lang="en-US" sz="1250" dirty="0">
                <a:solidFill>
                  <a:srgbClr val="171310"/>
                </a:solidFill>
                <a:latin typeface="Calibri" pitchFamily="34" charset="0"/>
                <a:ea typeface="Calibri" pitchFamily="34" charset="-122"/>
                <a:cs typeface="Calibri" pitchFamily="34" charset="-120"/>
              </a:rPr>
              <a:t>Gebruikt de app in het Nederlands, Engels of Arabisch</a:t>
            </a:r>
            <a:endParaRPr lang="en-US" sz="1250" dirty="0"/>
          </a:p>
        </p:txBody>
      </p:sp>
      <p:sp>
        <p:nvSpPr>
          <p:cNvPr id="8" name="Shape 5"/>
          <p:cNvSpPr/>
          <p:nvPr/>
        </p:nvSpPr>
        <p:spPr>
          <a:xfrm>
            <a:off x="4709160" y="1188720"/>
            <a:ext cx="3977640" cy="3017520"/>
          </a:xfrm>
          <a:prstGeom prst="roundRect">
            <a:avLst>
              <a:gd name="adj" fmla="val 3636"/>
            </a:avLst>
          </a:prstGeom>
          <a:solidFill>
            <a:srgbClr val="FFFFFF"/>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9" name="Shape 6"/>
          <p:cNvSpPr/>
          <p:nvPr/>
        </p:nvSpPr>
        <p:spPr>
          <a:xfrm>
            <a:off x="4937760" y="1389888"/>
            <a:ext cx="502920" cy="502920"/>
          </a:xfrm>
          <a:prstGeom prst="ellipse">
            <a:avLst/>
          </a:prstGeom>
          <a:solidFill>
            <a:srgbClr val="FF7212"/>
          </a:solidFill>
          <a:ln w="12700">
            <a:solidFill>
              <a:srgbClr val="FF7212"/>
            </a:solidFill>
            <a:prstDash val="solid"/>
          </a:ln>
        </p:spPr>
      </p:sp>
      <p:pic>
        <p:nvPicPr>
          <p:cNvPr id="10" name="Image 1" descr="preencoded.png">    </p:cNvPr>
          <p:cNvPicPr>
            <a:picLocks noChangeAspect="1"/>
          </p:cNvPicPr>
          <p:nvPr/>
        </p:nvPicPr>
        <p:blipFill>
          <a:blip r:embed="rId2"/>
          <a:stretch>
            <a:fillRect/>
          </a:stretch>
        </p:blipFill>
        <p:spPr>
          <a:xfrm>
            <a:off x="5068519" y="1520647"/>
            <a:ext cx="241402" cy="241402"/>
          </a:xfrm>
          <a:prstGeom prst="rect">
            <a:avLst/>
          </a:prstGeom>
        </p:spPr>
      </p:pic>
      <p:sp>
        <p:nvSpPr>
          <p:cNvPr id="11" name="Text 7"/>
          <p:cNvSpPr txBox="1"/>
          <p:nvPr/>
        </p:nvSpPr>
        <p:spPr>
          <a:xfrm>
            <a:off x="5577840" y="1389888"/>
            <a:ext cx="2926080" cy="502920"/>
          </a:xfrm>
          <a:prstGeom prst="rect">
            <a:avLst/>
          </a:prstGeom>
          <a:noFill/>
          <a:ln/>
        </p:spPr>
        <p:txBody>
          <a:bodyPr wrap="square" lIns="0" tIns="0" rIns="0" bIns="0" rtlCol="0" anchor="ctr"/>
          <a:lstStyle/>
          <a:p>
            <a:pPr indent="0" marL="0">
              <a:buNone/>
            </a:pPr>
            <a:r>
              <a:rPr lang="en-US" sz="1600" b="1" dirty="0">
                <a:solidFill>
                  <a:srgbClr val="171310"/>
                </a:solidFill>
                <a:latin typeface="Arial" pitchFamily="34" charset="0"/>
                <a:ea typeface="Arial" pitchFamily="34" charset="-122"/>
                <a:cs typeface="Arial" pitchFamily="34" charset="-120"/>
              </a:rPr>
              <a:t>Voor de vrijwilliger</a:t>
            </a:r>
            <a:endParaRPr lang="en-US" sz="1600" dirty="0"/>
          </a:p>
        </p:txBody>
      </p:sp>
      <p:sp>
        <p:nvSpPr>
          <p:cNvPr id="12" name="Text 8"/>
          <p:cNvSpPr txBox="1"/>
          <p:nvPr/>
        </p:nvSpPr>
        <p:spPr>
          <a:xfrm>
            <a:off x="4937760" y="2011680"/>
            <a:ext cx="356616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71310"/>
                </a:solidFill>
                <a:latin typeface="Calibri" pitchFamily="34" charset="0"/>
                <a:ea typeface="Calibri" pitchFamily="34" charset="-122"/>
                <a:cs typeface="Calibri" pitchFamily="34" charset="-120"/>
              </a:rPr>
              <a:t>Scant de pas en ziet meteen: naam, pakket A t/m E, halal, allergieën</a:t>
            </a:r>
            <a:endParaRPr lang="en-US" sz="1250" dirty="0"/>
          </a:p>
          <a:p>
            <a:pPr marL="342900" indent="-342900">
              <a:spcAft>
                <a:spcPts val="600"/>
              </a:spcAft>
              <a:buSzPct val="100000"/>
              <a:buChar char="•"/>
            </a:pPr>
            <a:r>
              <a:rPr lang="en-US" sz="1250" dirty="0">
                <a:solidFill>
                  <a:srgbClr val="171310"/>
                </a:solidFill>
                <a:latin typeface="Calibri" pitchFamily="34" charset="0"/>
                <a:ea typeface="Calibri" pitchFamily="34" charset="-122"/>
                <a:cs typeface="Calibri" pitchFamily="34" charset="-120"/>
              </a:rPr>
              <a:t>Tikt op "uitgegeven" — en kan dat ongedaan maken bij een vergissing</a:t>
            </a:r>
            <a:endParaRPr lang="en-US" sz="1250" dirty="0"/>
          </a:p>
          <a:p>
            <a:pPr marL="342900" indent="-342900">
              <a:spcAft>
                <a:spcPts val="600"/>
              </a:spcAft>
              <a:buSzPct val="100000"/>
              <a:buChar char="•"/>
            </a:pPr>
            <a:r>
              <a:rPr lang="en-US" sz="1250" dirty="0">
                <a:solidFill>
                  <a:srgbClr val="171310"/>
                </a:solidFill>
                <a:latin typeface="Calibri" pitchFamily="34" charset="0"/>
                <a:ea typeface="Calibri" pitchFamily="34" charset="-122"/>
                <a:cs typeface="Calibri" pitchFamily="34" charset="-120"/>
              </a:rPr>
              <a:t>De loods ziet hoeveel pakketten van elk type klaar moeten staan</a:t>
            </a:r>
            <a:endParaRPr lang="en-US" sz="1250" dirty="0"/>
          </a:p>
          <a:p>
            <a:pPr marL="342900" indent="-342900">
              <a:spcAft>
                <a:spcPts val="600"/>
              </a:spcAft>
              <a:buSzPct val="100000"/>
              <a:buChar char="•"/>
            </a:pPr>
            <a:r>
              <a:rPr lang="en-US" sz="1250" dirty="0">
                <a:solidFill>
                  <a:srgbClr val="171310"/>
                </a:solidFill>
                <a:latin typeface="Calibri" pitchFamily="34" charset="0"/>
                <a:ea typeface="Calibri" pitchFamily="34" charset="-122"/>
                <a:cs typeface="Calibri" pitchFamily="34" charset="-120"/>
              </a:rPr>
              <a:t>De beheerder stuurt berichten naar alle klanten, of naar één locatie</a:t>
            </a:r>
            <a:endParaRPr lang="en-US" sz="1250" dirty="0"/>
          </a:p>
        </p:txBody>
      </p:sp>
      <p:sp>
        <p:nvSpPr>
          <p:cNvPr id="13" name="Shape 9"/>
          <p:cNvSpPr/>
          <p:nvPr/>
        </p:nvSpPr>
        <p:spPr>
          <a:xfrm>
            <a:off x="457200" y="4343400"/>
            <a:ext cx="8229600" cy="384048"/>
          </a:xfrm>
          <a:prstGeom prst="roundRect">
            <a:avLst>
              <a:gd name="adj" fmla="val 23810"/>
            </a:avLst>
          </a:prstGeom>
          <a:solidFill>
            <a:srgbClr val="FFF1E6"/>
          </a:solidFill>
          <a:ln w="12700">
            <a:solidFill>
              <a:srgbClr val="FFF1E6"/>
            </a:solidFill>
            <a:prstDash val="solid"/>
          </a:ln>
        </p:spPr>
      </p:sp>
      <p:sp>
        <p:nvSpPr>
          <p:cNvPr id="14" name="Text 10"/>
          <p:cNvSpPr txBox="1"/>
          <p:nvPr/>
        </p:nvSpPr>
        <p:spPr>
          <a:xfrm>
            <a:off x="640080" y="4343400"/>
            <a:ext cx="7863840" cy="384048"/>
          </a:xfrm>
          <a:prstGeom prst="rect">
            <a:avLst/>
          </a:prstGeom>
          <a:noFill/>
          <a:ln/>
        </p:spPr>
        <p:txBody>
          <a:bodyPr wrap="square" lIns="0" tIns="0" rIns="0" bIns="0" rtlCol="0" anchor="ctr"/>
          <a:lstStyle/>
          <a:p>
            <a:pPr indent="0" marL="0">
              <a:buNone/>
            </a:pPr>
            <a:r>
              <a:rPr lang="en-US" sz="1150" dirty="0">
                <a:solidFill>
                  <a:srgbClr val="C24E00"/>
                </a:solidFill>
                <a:latin typeface="Calibri" pitchFamily="34" charset="0"/>
                <a:ea typeface="Calibri" pitchFamily="34" charset="-122"/>
                <a:cs typeface="Calibri" pitchFamily="34" charset="-120"/>
              </a:rPr>
              <a:t>Het pakkettype wordt automatisch bepaald uit de gezinsgrootte: A voor één persoon, E voor zeven of meer. Niemand hoeft dat nog uit te rekenen.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171310"/>
                </a:solidFill>
                <a:latin typeface="Arial" pitchFamily="34" charset="0"/>
                <a:ea typeface="Arial" pitchFamily="34" charset="-122"/>
                <a:cs typeface="Arial" pitchFamily="34" charset="-120"/>
              </a:rPr>
              <a:t>Wat er onder de motorkap zit — in gewone taal</a:t>
            </a:r>
            <a:endParaRPr lang="en-US" sz="2800" dirty="0"/>
          </a:p>
        </p:txBody>
      </p:sp>
      <p:sp>
        <p:nvSpPr>
          <p:cNvPr id="3" name="Shape 1"/>
          <p:cNvSpPr/>
          <p:nvPr/>
        </p:nvSpPr>
        <p:spPr>
          <a:xfrm>
            <a:off x="457200" y="1188720"/>
            <a:ext cx="3977640" cy="1481328"/>
          </a:xfrm>
          <a:prstGeom prst="roundRect">
            <a:avLst>
              <a:gd name="adj" fmla="val 7407"/>
            </a:avLst>
          </a:prstGeom>
          <a:solidFill>
            <a:srgbClr val="FFFFFF"/>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685800" y="1417320"/>
            <a:ext cx="548640" cy="548640"/>
          </a:xfrm>
          <a:prstGeom prst="ellipse">
            <a:avLst/>
          </a:prstGeom>
          <a:solidFill>
            <a:srgbClr val="FF7212"/>
          </a:solidFill>
          <a:ln w="12700">
            <a:solidFill>
              <a:srgbClr val="FF7212"/>
            </a:solidFill>
            <a:prstDash val="solid"/>
          </a:ln>
        </p:spPr>
      </p:sp>
      <p:pic>
        <p:nvPicPr>
          <p:cNvPr id="5" name="Image 0" descr="preencoded.png">    </p:cNvPr>
          <p:cNvPicPr>
            <a:picLocks noChangeAspect="1"/>
          </p:cNvPicPr>
          <p:nvPr/>
        </p:nvPicPr>
        <p:blipFill>
          <a:blip r:embed="rId1"/>
          <a:stretch>
            <a:fillRect/>
          </a:stretch>
        </p:blipFill>
        <p:spPr>
          <a:xfrm>
            <a:off x="828446" y="1559966"/>
            <a:ext cx="263347" cy="263347"/>
          </a:xfrm>
          <a:prstGeom prst="rect">
            <a:avLst/>
          </a:prstGeom>
        </p:spPr>
      </p:pic>
      <p:sp>
        <p:nvSpPr>
          <p:cNvPr id="6" name="Text 3"/>
          <p:cNvSpPr txBox="1"/>
          <p:nvPr/>
        </p:nvSpPr>
        <p:spPr>
          <a:xfrm>
            <a:off x="1417320" y="1389888"/>
            <a:ext cx="2834640" cy="320040"/>
          </a:xfrm>
          <a:prstGeom prst="rect">
            <a:avLst/>
          </a:prstGeom>
          <a:noFill/>
          <a:ln/>
        </p:spPr>
        <p:txBody>
          <a:bodyPr wrap="square" lIns="0" tIns="0" rIns="0" bIns="0" rtlCol="0" anchor="ctr"/>
          <a:lstStyle/>
          <a:p>
            <a:pPr indent="0" marL="0">
              <a:buNone/>
            </a:pPr>
            <a:r>
              <a:rPr lang="en-US" sz="1400" b="1" dirty="0">
                <a:solidFill>
                  <a:srgbClr val="171310"/>
                </a:solidFill>
                <a:latin typeface="Arial" pitchFamily="34" charset="0"/>
                <a:ea typeface="Arial" pitchFamily="34" charset="-122"/>
                <a:cs typeface="Arial" pitchFamily="34" charset="-120"/>
              </a:rPr>
              <a:t>De app zelf</a:t>
            </a:r>
            <a:endParaRPr lang="en-US" sz="1400" dirty="0"/>
          </a:p>
        </p:txBody>
      </p:sp>
      <p:sp>
        <p:nvSpPr>
          <p:cNvPr id="7" name="Text 4"/>
          <p:cNvSpPr txBox="1"/>
          <p:nvPr/>
        </p:nvSpPr>
        <p:spPr>
          <a:xfrm>
            <a:off x="1417320" y="1737360"/>
            <a:ext cx="2834640" cy="868680"/>
          </a:xfrm>
          <a:prstGeom prst="rect">
            <a:avLst/>
          </a:prstGeom>
          <a:noFill/>
          <a:ln/>
        </p:spPr>
        <p:txBody>
          <a:bodyPr wrap="square" lIns="0" tIns="0" rIns="0" bIns="0" rtlCol="0" anchor="t"/>
          <a:lstStyle/>
          <a:p>
            <a:pPr indent="0" marL="0">
              <a:buNone/>
            </a:pPr>
            <a:r>
              <a:rPr lang="en-US" sz="1150" dirty="0">
                <a:solidFill>
                  <a:srgbClr val="6E655C"/>
                </a:solidFill>
                <a:latin typeface="Calibri" pitchFamily="34" charset="0"/>
                <a:ea typeface="Calibri" pitchFamily="34" charset="-122"/>
                <a:cs typeface="Calibri" pitchFamily="34" charset="-120"/>
              </a:rPr>
              <a:t>Draait in de browser van elke telefoon. Geen App Store nodig: één link, "zet op beginscherm", klaar. Werkt op iPhone én Android.</a:t>
            </a:r>
            <a:endParaRPr lang="en-US" sz="1150" dirty="0"/>
          </a:p>
        </p:txBody>
      </p:sp>
      <p:sp>
        <p:nvSpPr>
          <p:cNvPr id="8" name="Shape 5"/>
          <p:cNvSpPr/>
          <p:nvPr/>
        </p:nvSpPr>
        <p:spPr>
          <a:xfrm>
            <a:off x="4709160" y="1188720"/>
            <a:ext cx="3977640" cy="1481328"/>
          </a:xfrm>
          <a:prstGeom prst="roundRect">
            <a:avLst>
              <a:gd name="adj" fmla="val 7407"/>
            </a:avLst>
          </a:prstGeom>
          <a:solidFill>
            <a:srgbClr val="FFFFFF"/>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9" name="Shape 6"/>
          <p:cNvSpPr/>
          <p:nvPr/>
        </p:nvSpPr>
        <p:spPr>
          <a:xfrm>
            <a:off x="4937760" y="1417320"/>
            <a:ext cx="548640" cy="548640"/>
          </a:xfrm>
          <a:prstGeom prst="ellipse">
            <a:avLst/>
          </a:prstGeom>
          <a:solidFill>
            <a:srgbClr val="FF7212"/>
          </a:solidFill>
          <a:ln w="12700">
            <a:solidFill>
              <a:srgbClr val="FF7212"/>
            </a:solidFill>
            <a:prstDash val="solid"/>
          </a:ln>
        </p:spPr>
      </p:sp>
      <p:pic>
        <p:nvPicPr>
          <p:cNvPr id="10" name="Image 1" descr="preencoded.png">    </p:cNvPr>
          <p:cNvPicPr>
            <a:picLocks noChangeAspect="1"/>
          </p:cNvPicPr>
          <p:nvPr/>
        </p:nvPicPr>
        <p:blipFill>
          <a:blip r:embed="rId2"/>
          <a:stretch>
            <a:fillRect/>
          </a:stretch>
        </p:blipFill>
        <p:spPr>
          <a:xfrm>
            <a:off x="5080406" y="1559966"/>
            <a:ext cx="263347" cy="263347"/>
          </a:xfrm>
          <a:prstGeom prst="rect">
            <a:avLst/>
          </a:prstGeom>
        </p:spPr>
      </p:pic>
      <p:sp>
        <p:nvSpPr>
          <p:cNvPr id="11" name="Text 7"/>
          <p:cNvSpPr txBox="1"/>
          <p:nvPr/>
        </p:nvSpPr>
        <p:spPr>
          <a:xfrm>
            <a:off x="5669280" y="1389888"/>
            <a:ext cx="2834640" cy="320040"/>
          </a:xfrm>
          <a:prstGeom prst="rect">
            <a:avLst/>
          </a:prstGeom>
          <a:noFill/>
          <a:ln/>
        </p:spPr>
        <p:txBody>
          <a:bodyPr wrap="square" lIns="0" tIns="0" rIns="0" bIns="0" rtlCol="0" anchor="ctr"/>
          <a:lstStyle/>
          <a:p>
            <a:pPr indent="0" marL="0">
              <a:buNone/>
            </a:pPr>
            <a:r>
              <a:rPr lang="en-US" sz="1400" b="1" dirty="0">
                <a:solidFill>
                  <a:srgbClr val="171310"/>
                </a:solidFill>
                <a:latin typeface="Arial" pitchFamily="34" charset="0"/>
                <a:ea typeface="Arial" pitchFamily="34" charset="-122"/>
                <a:cs typeface="Arial" pitchFamily="34" charset="-120"/>
              </a:rPr>
              <a:t>De kluis — Supabase</a:t>
            </a:r>
            <a:endParaRPr lang="en-US" sz="1400" dirty="0"/>
          </a:p>
        </p:txBody>
      </p:sp>
      <p:sp>
        <p:nvSpPr>
          <p:cNvPr id="12" name="Text 8"/>
          <p:cNvSpPr txBox="1"/>
          <p:nvPr/>
        </p:nvSpPr>
        <p:spPr>
          <a:xfrm>
            <a:off x="5669280" y="1737360"/>
            <a:ext cx="2834640" cy="868680"/>
          </a:xfrm>
          <a:prstGeom prst="rect">
            <a:avLst/>
          </a:prstGeom>
          <a:noFill/>
          <a:ln/>
        </p:spPr>
        <p:txBody>
          <a:bodyPr wrap="square" lIns="0" tIns="0" rIns="0" bIns="0" rtlCol="0" anchor="t"/>
          <a:lstStyle/>
          <a:p>
            <a:pPr indent="0" marL="0">
              <a:buNone/>
            </a:pPr>
            <a:r>
              <a:rPr lang="en-US" sz="1150" dirty="0">
                <a:solidFill>
                  <a:srgbClr val="6E655C"/>
                </a:solidFill>
                <a:latin typeface="Calibri" pitchFamily="34" charset="0"/>
                <a:ea typeface="Calibri" pitchFamily="34" charset="-122"/>
                <a:cs typeface="Calibri" pitchFamily="34" charset="-120"/>
              </a:rPr>
              <a:t>De database waar alle gegevens staan en waar het inloggen wordt geregeld. Servers in Frankfurt, dus binnen de EU.</a:t>
            </a:r>
            <a:endParaRPr lang="en-US" sz="1150" dirty="0"/>
          </a:p>
        </p:txBody>
      </p:sp>
      <p:sp>
        <p:nvSpPr>
          <p:cNvPr id="13" name="Shape 9"/>
          <p:cNvSpPr/>
          <p:nvPr/>
        </p:nvSpPr>
        <p:spPr>
          <a:xfrm>
            <a:off x="457200" y="2852928"/>
            <a:ext cx="3977640" cy="1481328"/>
          </a:xfrm>
          <a:prstGeom prst="roundRect">
            <a:avLst>
              <a:gd name="adj" fmla="val 7407"/>
            </a:avLst>
          </a:prstGeom>
          <a:solidFill>
            <a:srgbClr val="FFFFFF"/>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14" name="Shape 10"/>
          <p:cNvSpPr/>
          <p:nvPr/>
        </p:nvSpPr>
        <p:spPr>
          <a:xfrm>
            <a:off x="685800" y="3081528"/>
            <a:ext cx="548640" cy="548640"/>
          </a:xfrm>
          <a:prstGeom prst="ellipse">
            <a:avLst/>
          </a:prstGeom>
          <a:solidFill>
            <a:srgbClr val="FF7212"/>
          </a:solidFill>
          <a:ln w="12700">
            <a:solidFill>
              <a:srgbClr val="FF7212"/>
            </a:solidFill>
            <a:prstDash val="solid"/>
          </a:ln>
        </p:spPr>
      </p:sp>
      <p:pic>
        <p:nvPicPr>
          <p:cNvPr id="15" name="Image 2" descr="preencoded.png">    </p:cNvPr>
          <p:cNvPicPr>
            <a:picLocks noChangeAspect="1"/>
          </p:cNvPicPr>
          <p:nvPr/>
        </p:nvPicPr>
        <p:blipFill>
          <a:blip r:embed="rId3"/>
          <a:stretch>
            <a:fillRect/>
          </a:stretch>
        </p:blipFill>
        <p:spPr>
          <a:xfrm>
            <a:off x="828446" y="3224174"/>
            <a:ext cx="263347" cy="263347"/>
          </a:xfrm>
          <a:prstGeom prst="rect">
            <a:avLst/>
          </a:prstGeom>
        </p:spPr>
      </p:pic>
      <p:sp>
        <p:nvSpPr>
          <p:cNvPr id="16" name="Text 11"/>
          <p:cNvSpPr txBox="1"/>
          <p:nvPr/>
        </p:nvSpPr>
        <p:spPr>
          <a:xfrm>
            <a:off x="1417320" y="3054096"/>
            <a:ext cx="2834640" cy="320040"/>
          </a:xfrm>
          <a:prstGeom prst="rect">
            <a:avLst/>
          </a:prstGeom>
          <a:noFill/>
          <a:ln/>
        </p:spPr>
        <p:txBody>
          <a:bodyPr wrap="square" lIns="0" tIns="0" rIns="0" bIns="0" rtlCol="0" anchor="ctr"/>
          <a:lstStyle/>
          <a:p>
            <a:pPr indent="0" marL="0">
              <a:buNone/>
            </a:pPr>
            <a:r>
              <a:rPr lang="en-US" sz="1400" b="1" dirty="0">
                <a:solidFill>
                  <a:srgbClr val="171310"/>
                </a:solidFill>
                <a:latin typeface="Arial" pitchFamily="34" charset="0"/>
                <a:ea typeface="Arial" pitchFamily="34" charset="-122"/>
                <a:cs typeface="Arial" pitchFamily="34" charset="-120"/>
              </a:rPr>
              <a:t>De inlogcodes — Resend</a:t>
            </a:r>
            <a:endParaRPr lang="en-US" sz="1400" dirty="0"/>
          </a:p>
        </p:txBody>
      </p:sp>
      <p:sp>
        <p:nvSpPr>
          <p:cNvPr id="17" name="Text 12"/>
          <p:cNvSpPr txBox="1"/>
          <p:nvPr/>
        </p:nvSpPr>
        <p:spPr>
          <a:xfrm>
            <a:off x="1417320" y="3401568"/>
            <a:ext cx="2834640" cy="868680"/>
          </a:xfrm>
          <a:prstGeom prst="rect">
            <a:avLst/>
          </a:prstGeom>
          <a:noFill/>
          <a:ln/>
        </p:spPr>
        <p:txBody>
          <a:bodyPr wrap="square" lIns="0" tIns="0" rIns="0" bIns="0" rtlCol="0" anchor="t"/>
          <a:lstStyle/>
          <a:p>
            <a:pPr indent="0" marL="0">
              <a:buNone/>
            </a:pPr>
            <a:r>
              <a:rPr lang="en-US" sz="1150" dirty="0">
                <a:solidFill>
                  <a:srgbClr val="6E655C"/>
                </a:solidFill>
                <a:latin typeface="Calibri" pitchFamily="34" charset="0"/>
                <a:ea typeface="Calibri" pitchFamily="34" charset="-122"/>
                <a:cs typeface="Calibri" pitchFamily="34" charset="-120"/>
              </a:rPr>
              <a:t>Verstuurt de e-mail met een code van zes cijfers. Geen wachtwoorden om te onthouden, te vergeten of te lekken.</a:t>
            </a:r>
            <a:endParaRPr lang="en-US" sz="1150" dirty="0"/>
          </a:p>
        </p:txBody>
      </p:sp>
      <p:sp>
        <p:nvSpPr>
          <p:cNvPr id="18" name="Shape 13"/>
          <p:cNvSpPr/>
          <p:nvPr/>
        </p:nvSpPr>
        <p:spPr>
          <a:xfrm>
            <a:off x="4709160" y="2852928"/>
            <a:ext cx="3977640" cy="1481328"/>
          </a:xfrm>
          <a:prstGeom prst="roundRect">
            <a:avLst>
              <a:gd name="adj" fmla="val 7407"/>
            </a:avLst>
          </a:prstGeom>
          <a:solidFill>
            <a:srgbClr val="FFFFFF"/>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19" name="Shape 14"/>
          <p:cNvSpPr/>
          <p:nvPr/>
        </p:nvSpPr>
        <p:spPr>
          <a:xfrm>
            <a:off x="4937760" y="3081528"/>
            <a:ext cx="548640" cy="548640"/>
          </a:xfrm>
          <a:prstGeom prst="ellipse">
            <a:avLst/>
          </a:prstGeom>
          <a:solidFill>
            <a:srgbClr val="FF7212"/>
          </a:solidFill>
          <a:ln w="12700">
            <a:solidFill>
              <a:srgbClr val="FF7212"/>
            </a:solidFill>
            <a:prstDash val="solid"/>
          </a:ln>
        </p:spPr>
      </p:sp>
      <p:pic>
        <p:nvPicPr>
          <p:cNvPr id="20" name="Image 3" descr="preencoded.png">    </p:cNvPr>
          <p:cNvPicPr>
            <a:picLocks noChangeAspect="1"/>
          </p:cNvPicPr>
          <p:nvPr/>
        </p:nvPicPr>
        <p:blipFill>
          <a:blip r:embed="rId4"/>
          <a:stretch>
            <a:fillRect/>
          </a:stretch>
        </p:blipFill>
        <p:spPr>
          <a:xfrm>
            <a:off x="5080406" y="3224174"/>
            <a:ext cx="263347" cy="263347"/>
          </a:xfrm>
          <a:prstGeom prst="rect">
            <a:avLst/>
          </a:prstGeom>
        </p:spPr>
      </p:pic>
      <p:sp>
        <p:nvSpPr>
          <p:cNvPr id="21" name="Text 15"/>
          <p:cNvSpPr txBox="1"/>
          <p:nvPr/>
        </p:nvSpPr>
        <p:spPr>
          <a:xfrm>
            <a:off x="5669280" y="3054096"/>
            <a:ext cx="2834640" cy="320040"/>
          </a:xfrm>
          <a:prstGeom prst="rect">
            <a:avLst/>
          </a:prstGeom>
          <a:noFill/>
          <a:ln/>
        </p:spPr>
        <p:txBody>
          <a:bodyPr wrap="square" lIns="0" tIns="0" rIns="0" bIns="0" rtlCol="0" anchor="ctr"/>
          <a:lstStyle/>
          <a:p>
            <a:pPr indent="0" marL="0">
              <a:buNone/>
            </a:pPr>
            <a:r>
              <a:rPr lang="en-US" sz="1400" b="1" dirty="0">
                <a:solidFill>
                  <a:srgbClr val="171310"/>
                </a:solidFill>
                <a:latin typeface="Arial" pitchFamily="34" charset="0"/>
                <a:ea typeface="Arial" pitchFamily="34" charset="-122"/>
                <a:cs typeface="Arial" pitchFamily="34" charset="-120"/>
              </a:rPr>
              <a:t>De hosting — Vercel</a:t>
            </a:r>
            <a:endParaRPr lang="en-US" sz="1400" dirty="0"/>
          </a:p>
        </p:txBody>
      </p:sp>
      <p:sp>
        <p:nvSpPr>
          <p:cNvPr id="22" name="Text 16"/>
          <p:cNvSpPr txBox="1"/>
          <p:nvPr/>
        </p:nvSpPr>
        <p:spPr>
          <a:xfrm>
            <a:off x="5669280" y="3401568"/>
            <a:ext cx="2834640" cy="868680"/>
          </a:xfrm>
          <a:prstGeom prst="rect">
            <a:avLst/>
          </a:prstGeom>
          <a:noFill/>
          <a:ln/>
        </p:spPr>
        <p:txBody>
          <a:bodyPr wrap="square" lIns="0" tIns="0" rIns="0" bIns="0" rtlCol="0" anchor="t"/>
          <a:lstStyle/>
          <a:p>
            <a:pPr indent="0" marL="0">
              <a:buNone/>
            </a:pPr>
            <a:r>
              <a:rPr lang="en-US" sz="1150" dirty="0">
                <a:solidFill>
                  <a:srgbClr val="6E655C"/>
                </a:solidFill>
                <a:latin typeface="Calibri" pitchFamily="34" charset="0"/>
                <a:ea typeface="Calibri" pitchFamily="34" charset="-122"/>
                <a:cs typeface="Calibri" pitchFamily="34" charset="-120"/>
              </a:rPr>
              <a:t>Zet de app online op een beveiligd adres (https). Zonder dat mogen de camera en de meldingen niet werken.</a:t>
            </a:r>
            <a:endParaRPr lang="en-US" sz="1150" dirty="0"/>
          </a:p>
        </p:txBody>
      </p:sp>
      <p:sp>
        <p:nvSpPr>
          <p:cNvPr id="23" name="Text 17"/>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968C83"/>
                </a:solidFill>
                <a:latin typeface="Calibri" pitchFamily="34" charset="0"/>
                <a:ea typeface="Calibri" pitchFamily="34" charset="-122"/>
                <a:cs typeface="Calibri" pitchFamily="34" charset="-120"/>
              </a:rPr>
              <a:t>De broncode staat in Git (versiebeheer) op de laptop van de bouwer. Aanbevolen: die naar GitHub zetten als back-up, zodat de app niet aan één computer hangt.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171310"/>
                </a:solidFill>
                <a:latin typeface="Arial" pitchFamily="34" charset="0"/>
                <a:ea typeface="Arial" pitchFamily="34" charset="-122"/>
                <a:cs typeface="Arial" pitchFamily="34" charset="-120"/>
              </a:rPr>
              <a:t>Hoe de app tot stand is gekomen</a:t>
            </a:r>
            <a:endParaRPr lang="en-US" sz="2800" dirty="0"/>
          </a:p>
        </p:txBody>
      </p:sp>
      <p:sp>
        <p:nvSpPr>
          <p:cNvPr id="3" name="Shape 1"/>
          <p:cNvSpPr/>
          <p:nvPr/>
        </p:nvSpPr>
        <p:spPr>
          <a:xfrm>
            <a:off x="868680" y="1417320"/>
            <a:ext cx="475488" cy="475488"/>
          </a:xfrm>
          <a:prstGeom prst="ellipse">
            <a:avLst/>
          </a:prstGeom>
          <a:solidFill>
            <a:srgbClr val="FF7212"/>
          </a:solidFill>
          <a:ln w="12700">
            <a:solidFill>
              <a:srgbClr val="FF7212"/>
            </a:solidFill>
            <a:prstDash val="solid"/>
          </a:ln>
        </p:spPr>
      </p:sp>
      <p:sp>
        <p:nvSpPr>
          <p:cNvPr id="4" name="Text 2"/>
          <p:cNvSpPr txBox="1"/>
          <p:nvPr/>
        </p:nvSpPr>
        <p:spPr>
          <a:xfrm>
            <a:off x="868680" y="14173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Shape 3"/>
          <p:cNvSpPr/>
          <p:nvPr/>
        </p:nvSpPr>
        <p:spPr>
          <a:xfrm>
            <a:off x="1380744" y="1655064"/>
            <a:ext cx="841248" cy="0"/>
          </a:xfrm>
          <a:prstGeom prst="line">
            <a:avLst/>
          </a:prstGeom>
          <a:noFill/>
          <a:ln w="19050">
            <a:solidFill>
              <a:srgbClr val="E4E1DD"/>
            </a:solidFill>
            <a:prstDash val="solid"/>
          </a:ln>
        </p:spPr>
      </p:sp>
      <p:sp>
        <p:nvSpPr>
          <p:cNvPr id="6" name="Text 4"/>
          <p:cNvSpPr txBox="1"/>
          <p:nvPr/>
        </p:nvSpPr>
        <p:spPr>
          <a:xfrm>
            <a:off x="457200" y="2057400"/>
            <a:ext cx="1298448" cy="274320"/>
          </a:xfrm>
          <a:prstGeom prst="rect">
            <a:avLst/>
          </a:prstGeom>
          <a:noFill/>
          <a:ln/>
        </p:spPr>
        <p:txBody>
          <a:bodyPr wrap="square" lIns="0" tIns="0" rIns="0" bIns="0" rtlCol="0" anchor="ctr"/>
          <a:lstStyle/>
          <a:p>
            <a:pPr algn="ctr" indent="0" marL="0">
              <a:buNone/>
            </a:pPr>
            <a:r>
              <a:rPr lang="en-US" sz="1300" b="1" dirty="0">
                <a:solidFill>
                  <a:srgbClr val="171310"/>
                </a:solidFill>
                <a:latin typeface="Arial" pitchFamily="34" charset="0"/>
                <a:ea typeface="Arial" pitchFamily="34" charset="-122"/>
                <a:cs typeface="Arial" pitchFamily="34" charset="-120"/>
              </a:rPr>
              <a:t>Ontwerp</a:t>
            </a:r>
            <a:endParaRPr lang="en-US" sz="1300" dirty="0"/>
          </a:p>
        </p:txBody>
      </p:sp>
      <p:sp>
        <p:nvSpPr>
          <p:cNvPr id="7" name="Text 5"/>
          <p:cNvSpPr txBox="1"/>
          <p:nvPr/>
        </p:nvSpPr>
        <p:spPr>
          <a:xfrm>
            <a:off x="457200" y="2350008"/>
            <a:ext cx="1298448" cy="1737360"/>
          </a:xfrm>
          <a:prstGeom prst="rect">
            <a:avLst/>
          </a:prstGeom>
          <a:noFill/>
          <a:ln/>
        </p:spPr>
        <p:txBody>
          <a:bodyPr wrap="square" lIns="0" tIns="0" rIns="0" bIns="0" rtlCol="0" anchor="t"/>
          <a:lstStyle/>
          <a:p>
            <a:pPr algn="ctr" indent="0" marL="0">
              <a:buNone/>
            </a:pPr>
            <a:r>
              <a:rPr lang="en-US" sz="1050" dirty="0">
                <a:solidFill>
                  <a:srgbClr val="6E655C"/>
                </a:solidFill>
                <a:latin typeface="Calibri" pitchFamily="34" charset="0"/>
                <a:ea typeface="Calibri" pitchFamily="34" charset="-122"/>
                <a:cs typeface="Calibri" pitchFamily="34" charset="-120"/>
              </a:rPr>
              <a:t>Wensen op een rij, huisstijl uit het logo gehaald, een klikbaar model om te laten zien.</a:t>
            </a:r>
            <a:endParaRPr lang="en-US" sz="1050" dirty="0"/>
          </a:p>
        </p:txBody>
      </p:sp>
      <p:sp>
        <p:nvSpPr>
          <p:cNvPr id="8" name="Shape 6"/>
          <p:cNvSpPr/>
          <p:nvPr/>
        </p:nvSpPr>
        <p:spPr>
          <a:xfrm>
            <a:off x="2258568" y="1417320"/>
            <a:ext cx="475488" cy="475488"/>
          </a:xfrm>
          <a:prstGeom prst="ellipse">
            <a:avLst/>
          </a:prstGeom>
          <a:solidFill>
            <a:srgbClr val="FF7212"/>
          </a:solidFill>
          <a:ln w="12700">
            <a:solidFill>
              <a:srgbClr val="FF7212"/>
            </a:solidFill>
            <a:prstDash val="solid"/>
          </a:ln>
        </p:spPr>
      </p:sp>
      <p:sp>
        <p:nvSpPr>
          <p:cNvPr id="9" name="Text 7"/>
          <p:cNvSpPr txBox="1"/>
          <p:nvPr/>
        </p:nvSpPr>
        <p:spPr>
          <a:xfrm>
            <a:off x="2258568" y="14173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Shape 8"/>
          <p:cNvSpPr/>
          <p:nvPr/>
        </p:nvSpPr>
        <p:spPr>
          <a:xfrm>
            <a:off x="2770632" y="1655064"/>
            <a:ext cx="841248" cy="0"/>
          </a:xfrm>
          <a:prstGeom prst="line">
            <a:avLst/>
          </a:prstGeom>
          <a:noFill/>
          <a:ln w="19050">
            <a:solidFill>
              <a:srgbClr val="E4E1DD"/>
            </a:solidFill>
            <a:prstDash val="solid"/>
          </a:ln>
        </p:spPr>
      </p:sp>
      <p:sp>
        <p:nvSpPr>
          <p:cNvPr id="11" name="Text 9"/>
          <p:cNvSpPr txBox="1"/>
          <p:nvPr/>
        </p:nvSpPr>
        <p:spPr>
          <a:xfrm>
            <a:off x="1847088" y="2057400"/>
            <a:ext cx="1298448" cy="274320"/>
          </a:xfrm>
          <a:prstGeom prst="rect">
            <a:avLst/>
          </a:prstGeom>
          <a:noFill/>
          <a:ln/>
        </p:spPr>
        <p:txBody>
          <a:bodyPr wrap="square" lIns="0" tIns="0" rIns="0" bIns="0" rtlCol="0" anchor="ctr"/>
          <a:lstStyle/>
          <a:p>
            <a:pPr algn="ctr" indent="0" marL="0">
              <a:buNone/>
            </a:pPr>
            <a:r>
              <a:rPr lang="en-US" sz="1300" b="1" dirty="0">
                <a:solidFill>
                  <a:srgbClr val="171310"/>
                </a:solidFill>
                <a:latin typeface="Arial" pitchFamily="34" charset="0"/>
                <a:ea typeface="Arial" pitchFamily="34" charset="-122"/>
                <a:cs typeface="Arial" pitchFamily="34" charset="-120"/>
              </a:rPr>
              <a:t>Bouwen</a:t>
            </a:r>
            <a:endParaRPr lang="en-US" sz="1300" dirty="0"/>
          </a:p>
        </p:txBody>
      </p:sp>
      <p:sp>
        <p:nvSpPr>
          <p:cNvPr id="12" name="Text 10"/>
          <p:cNvSpPr txBox="1"/>
          <p:nvPr/>
        </p:nvSpPr>
        <p:spPr>
          <a:xfrm>
            <a:off x="1847088" y="2350008"/>
            <a:ext cx="1298448" cy="1737360"/>
          </a:xfrm>
          <a:prstGeom prst="rect">
            <a:avLst/>
          </a:prstGeom>
          <a:noFill/>
          <a:ln/>
        </p:spPr>
        <p:txBody>
          <a:bodyPr wrap="square" lIns="0" tIns="0" rIns="0" bIns="0" rtlCol="0" anchor="t"/>
          <a:lstStyle/>
          <a:p>
            <a:pPr algn="ctr" indent="0" marL="0">
              <a:buNone/>
            </a:pPr>
            <a:r>
              <a:rPr lang="en-US" sz="1050" dirty="0">
                <a:solidFill>
                  <a:srgbClr val="6E655C"/>
                </a:solidFill>
                <a:latin typeface="Calibri" pitchFamily="34" charset="0"/>
                <a:ea typeface="Calibri" pitchFamily="34" charset="-122"/>
                <a:cs typeface="Calibri" pitchFamily="34" charset="-120"/>
              </a:rPr>
              <a:t>De app geschreven in drie talen, met hulp van een AI-assistent (Claude) als programmeerpartner.</a:t>
            </a:r>
            <a:endParaRPr lang="en-US" sz="1050" dirty="0"/>
          </a:p>
        </p:txBody>
      </p:sp>
      <p:sp>
        <p:nvSpPr>
          <p:cNvPr id="13" name="Shape 11"/>
          <p:cNvSpPr/>
          <p:nvPr/>
        </p:nvSpPr>
        <p:spPr>
          <a:xfrm>
            <a:off x="3648456" y="1417320"/>
            <a:ext cx="475488" cy="475488"/>
          </a:xfrm>
          <a:prstGeom prst="ellipse">
            <a:avLst/>
          </a:prstGeom>
          <a:solidFill>
            <a:srgbClr val="FF7212"/>
          </a:solidFill>
          <a:ln w="12700">
            <a:solidFill>
              <a:srgbClr val="FF7212"/>
            </a:solidFill>
            <a:prstDash val="solid"/>
          </a:ln>
        </p:spPr>
      </p:sp>
      <p:sp>
        <p:nvSpPr>
          <p:cNvPr id="14" name="Text 12"/>
          <p:cNvSpPr txBox="1"/>
          <p:nvPr/>
        </p:nvSpPr>
        <p:spPr>
          <a:xfrm>
            <a:off x="3648456" y="14173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5" name="Shape 13"/>
          <p:cNvSpPr/>
          <p:nvPr/>
        </p:nvSpPr>
        <p:spPr>
          <a:xfrm>
            <a:off x="4160520" y="1655064"/>
            <a:ext cx="841248" cy="0"/>
          </a:xfrm>
          <a:prstGeom prst="line">
            <a:avLst/>
          </a:prstGeom>
          <a:noFill/>
          <a:ln w="19050">
            <a:solidFill>
              <a:srgbClr val="E4E1DD"/>
            </a:solidFill>
            <a:prstDash val="solid"/>
          </a:ln>
        </p:spPr>
      </p:sp>
      <p:sp>
        <p:nvSpPr>
          <p:cNvPr id="16" name="Text 14"/>
          <p:cNvSpPr txBox="1"/>
          <p:nvPr/>
        </p:nvSpPr>
        <p:spPr>
          <a:xfrm>
            <a:off x="3236976" y="2057400"/>
            <a:ext cx="1298448" cy="274320"/>
          </a:xfrm>
          <a:prstGeom prst="rect">
            <a:avLst/>
          </a:prstGeom>
          <a:noFill/>
          <a:ln/>
        </p:spPr>
        <p:txBody>
          <a:bodyPr wrap="square" lIns="0" tIns="0" rIns="0" bIns="0" rtlCol="0" anchor="ctr"/>
          <a:lstStyle/>
          <a:p>
            <a:pPr algn="ctr" indent="0" marL="0">
              <a:buNone/>
            </a:pPr>
            <a:r>
              <a:rPr lang="en-US" sz="1300" b="1" dirty="0">
                <a:solidFill>
                  <a:srgbClr val="171310"/>
                </a:solidFill>
                <a:latin typeface="Arial" pitchFamily="34" charset="0"/>
                <a:ea typeface="Arial" pitchFamily="34" charset="-122"/>
                <a:cs typeface="Arial" pitchFamily="34" charset="-120"/>
              </a:rPr>
              <a:t>Database</a:t>
            </a:r>
            <a:endParaRPr lang="en-US" sz="1300" dirty="0"/>
          </a:p>
        </p:txBody>
      </p:sp>
      <p:sp>
        <p:nvSpPr>
          <p:cNvPr id="17" name="Text 15"/>
          <p:cNvSpPr txBox="1"/>
          <p:nvPr/>
        </p:nvSpPr>
        <p:spPr>
          <a:xfrm>
            <a:off x="3236976" y="2350008"/>
            <a:ext cx="1298448" cy="1737360"/>
          </a:xfrm>
          <a:prstGeom prst="rect">
            <a:avLst/>
          </a:prstGeom>
          <a:noFill/>
          <a:ln/>
        </p:spPr>
        <p:txBody>
          <a:bodyPr wrap="square" lIns="0" tIns="0" rIns="0" bIns="0" rtlCol="0" anchor="t"/>
          <a:lstStyle/>
          <a:p>
            <a:pPr algn="ctr" indent="0" marL="0">
              <a:buNone/>
            </a:pPr>
            <a:r>
              <a:rPr lang="en-US" sz="1050" dirty="0">
                <a:solidFill>
                  <a:srgbClr val="6E655C"/>
                </a:solidFill>
                <a:latin typeface="Calibri" pitchFamily="34" charset="0"/>
                <a:ea typeface="Calibri" pitchFamily="34" charset="-122"/>
                <a:cs typeface="Calibri" pitchFamily="34" charset="-120"/>
              </a:rPr>
              <a:t>Tabellen, beveiligingsregels en de acht uitdeellocaties ingericht in Frankfurt.</a:t>
            </a:r>
            <a:endParaRPr lang="en-US" sz="1050" dirty="0"/>
          </a:p>
        </p:txBody>
      </p:sp>
      <p:sp>
        <p:nvSpPr>
          <p:cNvPr id="18" name="Shape 16"/>
          <p:cNvSpPr/>
          <p:nvPr/>
        </p:nvSpPr>
        <p:spPr>
          <a:xfrm>
            <a:off x="5038344" y="1417320"/>
            <a:ext cx="475488" cy="475488"/>
          </a:xfrm>
          <a:prstGeom prst="ellipse">
            <a:avLst/>
          </a:prstGeom>
          <a:solidFill>
            <a:srgbClr val="FF7212"/>
          </a:solidFill>
          <a:ln w="12700">
            <a:solidFill>
              <a:srgbClr val="FF7212"/>
            </a:solidFill>
            <a:prstDash val="solid"/>
          </a:ln>
        </p:spPr>
      </p:sp>
      <p:sp>
        <p:nvSpPr>
          <p:cNvPr id="19" name="Text 17"/>
          <p:cNvSpPr txBox="1"/>
          <p:nvPr/>
        </p:nvSpPr>
        <p:spPr>
          <a:xfrm>
            <a:off x="5038344" y="14173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Shape 18"/>
          <p:cNvSpPr/>
          <p:nvPr/>
        </p:nvSpPr>
        <p:spPr>
          <a:xfrm>
            <a:off x="5550408" y="1655064"/>
            <a:ext cx="841248" cy="0"/>
          </a:xfrm>
          <a:prstGeom prst="line">
            <a:avLst/>
          </a:prstGeom>
          <a:noFill/>
          <a:ln w="19050">
            <a:solidFill>
              <a:srgbClr val="E4E1DD"/>
            </a:solidFill>
            <a:prstDash val="solid"/>
          </a:ln>
        </p:spPr>
      </p:sp>
      <p:sp>
        <p:nvSpPr>
          <p:cNvPr id="21" name="Text 19"/>
          <p:cNvSpPr txBox="1"/>
          <p:nvPr/>
        </p:nvSpPr>
        <p:spPr>
          <a:xfrm>
            <a:off x="4626864" y="2057400"/>
            <a:ext cx="1298448" cy="274320"/>
          </a:xfrm>
          <a:prstGeom prst="rect">
            <a:avLst/>
          </a:prstGeom>
          <a:noFill/>
          <a:ln/>
        </p:spPr>
        <p:txBody>
          <a:bodyPr wrap="square" lIns="0" tIns="0" rIns="0" bIns="0" rtlCol="0" anchor="ctr"/>
          <a:lstStyle/>
          <a:p>
            <a:pPr algn="ctr" indent="0" marL="0">
              <a:buNone/>
            </a:pPr>
            <a:r>
              <a:rPr lang="en-US" sz="1300" b="1" dirty="0">
                <a:solidFill>
                  <a:srgbClr val="171310"/>
                </a:solidFill>
                <a:latin typeface="Arial" pitchFamily="34" charset="0"/>
                <a:ea typeface="Arial" pitchFamily="34" charset="-122"/>
                <a:cs typeface="Arial" pitchFamily="34" charset="-120"/>
              </a:rPr>
              <a:t>Testen</a:t>
            </a:r>
            <a:endParaRPr lang="en-US" sz="1300" dirty="0"/>
          </a:p>
        </p:txBody>
      </p:sp>
      <p:sp>
        <p:nvSpPr>
          <p:cNvPr id="22" name="Text 20"/>
          <p:cNvSpPr txBox="1"/>
          <p:nvPr/>
        </p:nvSpPr>
        <p:spPr>
          <a:xfrm>
            <a:off x="4626864" y="2350008"/>
            <a:ext cx="1298448" cy="1737360"/>
          </a:xfrm>
          <a:prstGeom prst="rect">
            <a:avLst/>
          </a:prstGeom>
          <a:noFill/>
          <a:ln/>
        </p:spPr>
        <p:txBody>
          <a:bodyPr wrap="square" lIns="0" tIns="0" rIns="0" bIns="0" rtlCol="0" anchor="t"/>
          <a:lstStyle/>
          <a:p>
            <a:pPr algn="ctr" indent="0" marL="0">
              <a:buNone/>
            </a:pPr>
            <a:r>
              <a:rPr lang="en-US" sz="1050" dirty="0">
                <a:solidFill>
                  <a:srgbClr val="6E655C"/>
                </a:solidFill>
                <a:latin typeface="Calibri" pitchFamily="34" charset="0"/>
                <a:ea typeface="Calibri" pitchFamily="34" charset="-122"/>
                <a:cs typeface="Calibri" pitchFamily="34" charset="-120"/>
              </a:rPr>
              <a:t>Alles tegen de echte database gedraaid. Zes fouten gevonden — en verholpen.</a:t>
            </a:r>
            <a:endParaRPr lang="en-US" sz="1050" dirty="0"/>
          </a:p>
        </p:txBody>
      </p:sp>
      <p:sp>
        <p:nvSpPr>
          <p:cNvPr id="23" name="Shape 21"/>
          <p:cNvSpPr/>
          <p:nvPr/>
        </p:nvSpPr>
        <p:spPr>
          <a:xfrm>
            <a:off x="6428232" y="1417320"/>
            <a:ext cx="475488" cy="475488"/>
          </a:xfrm>
          <a:prstGeom prst="ellipse">
            <a:avLst/>
          </a:prstGeom>
          <a:solidFill>
            <a:srgbClr val="FF7212"/>
          </a:solidFill>
          <a:ln w="12700">
            <a:solidFill>
              <a:srgbClr val="FF7212"/>
            </a:solidFill>
            <a:prstDash val="solid"/>
          </a:ln>
        </p:spPr>
      </p:sp>
      <p:sp>
        <p:nvSpPr>
          <p:cNvPr id="24" name="Text 22"/>
          <p:cNvSpPr txBox="1"/>
          <p:nvPr/>
        </p:nvSpPr>
        <p:spPr>
          <a:xfrm>
            <a:off x="6428232" y="14173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5" name="Shape 23"/>
          <p:cNvSpPr/>
          <p:nvPr/>
        </p:nvSpPr>
        <p:spPr>
          <a:xfrm>
            <a:off x="6940296" y="1655064"/>
            <a:ext cx="841248" cy="0"/>
          </a:xfrm>
          <a:prstGeom prst="line">
            <a:avLst/>
          </a:prstGeom>
          <a:noFill/>
          <a:ln w="19050">
            <a:solidFill>
              <a:srgbClr val="E4E1DD"/>
            </a:solidFill>
            <a:prstDash val="solid"/>
          </a:ln>
        </p:spPr>
      </p:sp>
      <p:sp>
        <p:nvSpPr>
          <p:cNvPr id="26" name="Text 24"/>
          <p:cNvSpPr txBox="1"/>
          <p:nvPr/>
        </p:nvSpPr>
        <p:spPr>
          <a:xfrm>
            <a:off x="6016752" y="2057400"/>
            <a:ext cx="1298448" cy="274320"/>
          </a:xfrm>
          <a:prstGeom prst="rect">
            <a:avLst/>
          </a:prstGeom>
          <a:noFill/>
          <a:ln/>
        </p:spPr>
        <p:txBody>
          <a:bodyPr wrap="square" lIns="0" tIns="0" rIns="0" bIns="0" rtlCol="0" anchor="ctr"/>
          <a:lstStyle/>
          <a:p>
            <a:pPr algn="ctr" indent="0" marL="0">
              <a:buNone/>
            </a:pPr>
            <a:r>
              <a:rPr lang="en-US" sz="1300" b="1" dirty="0">
                <a:solidFill>
                  <a:srgbClr val="171310"/>
                </a:solidFill>
                <a:latin typeface="Arial" pitchFamily="34" charset="0"/>
                <a:ea typeface="Arial" pitchFamily="34" charset="-122"/>
                <a:cs typeface="Arial" pitchFamily="34" charset="-120"/>
              </a:rPr>
              <a:t>Online</a:t>
            </a:r>
            <a:endParaRPr lang="en-US" sz="1300" dirty="0"/>
          </a:p>
        </p:txBody>
      </p:sp>
      <p:sp>
        <p:nvSpPr>
          <p:cNvPr id="27" name="Text 25"/>
          <p:cNvSpPr txBox="1"/>
          <p:nvPr/>
        </p:nvSpPr>
        <p:spPr>
          <a:xfrm>
            <a:off x="6016752" y="2350008"/>
            <a:ext cx="1298448" cy="1737360"/>
          </a:xfrm>
          <a:prstGeom prst="rect">
            <a:avLst/>
          </a:prstGeom>
          <a:noFill/>
          <a:ln/>
        </p:spPr>
        <p:txBody>
          <a:bodyPr wrap="square" lIns="0" tIns="0" rIns="0" bIns="0" rtlCol="0" anchor="t"/>
          <a:lstStyle/>
          <a:p>
            <a:pPr algn="ctr" indent="0" marL="0">
              <a:buNone/>
            </a:pPr>
            <a:r>
              <a:rPr lang="en-US" sz="1050" dirty="0">
                <a:solidFill>
                  <a:srgbClr val="6E655C"/>
                </a:solidFill>
                <a:latin typeface="Calibri" pitchFamily="34" charset="0"/>
                <a:ea typeface="Calibri" pitchFamily="34" charset="-122"/>
                <a:cs typeface="Calibri" pitchFamily="34" charset="-120"/>
              </a:rPr>
              <a:t>Gepubliceerd op een https-adres en geïnstalleerd op een iPhone.</a:t>
            </a:r>
            <a:endParaRPr lang="en-US" sz="1050" dirty="0"/>
          </a:p>
        </p:txBody>
      </p:sp>
      <p:sp>
        <p:nvSpPr>
          <p:cNvPr id="28" name="Shape 26"/>
          <p:cNvSpPr/>
          <p:nvPr/>
        </p:nvSpPr>
        <p:spPr>
          <a:xfrm>
            <a:off x="7818120" y="1417320"/>
            <a:ext cx="475488" cy="475488"/>
          </a:xfrm>
          <a:prstGeom prst="ellipse">
            <a:avLst/>
          </a:prstGeom>
          <a:solidFill>
            <a:srgbClr val="FF7212"/>
          </a:solidFill>
          <a:ln w="12700">
            <a:solidFill>
              <a:srgbClr val="FF7212"/>
            </a:solidFill>
            <a:prstDash val="solid"/>
          </a:ln>
        </p:spPr>
      </p:sp>
      <p:sp>
        <p:nvSpPr>
          <p:cNvPr id="29" name="Text 27"/>
          <p:cNvSpPr txBox="1"/>
          <p:nvPr/>
        </p:nvSpPr>
        <p:spPr>
          <a:xfrm>
            <a:off x="7818120" y="14173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0" name="Text 28"/>
          <p:cNvSpPr txBox="1"/>
          <p:nvPr/>
        </p:nvSpPr>
        <p:spPr>
          <a:xfrm>
            <a:off x="7406640" y="2057400"/>
            <a:ext cx="1298448" cy="274320"/>
          </a:xfrm>
          <a:prstGeom prst="rect">
            <a:avLst/>
          </a:prstGeom>
          <a:noFill/>
          <a:ln/>
        </p:spPr>
        <p:txBody>
          <a:bodyPr wrap="square" lIns="0" tIns="0" rIns="0" bIns="0" rtlCol="0" anchor="ctr"/>
          <a:lstStyle/>
          <a:p>
            <a:pPr algn="ctr" indent="0" marL="0">
              <a:buNone/>
            </a:pPr>
            <a:r>
              <a:rPr lang="en-US" sz="1300" b="1" dirty="0">
                <a:solidFill>
                  <a:srgbClr val="171310"/>
                </a:solidFill>
                <a:latin typeface="Arial" pitchFamily="34" charset="0"/>
                <a:ea typeface="Arial" pitchFamily="34" charset="-122"/>
                <a:cs typeface="Arial" pitchFamily="34" charset="-120"/>
              </a:rPr>
              <a:t>E-mail</a:t>
            </a:r>
            <a:endParaRPr lang="en-US" sz="1300" dirty="0"/>
          </a:p>
        </p:txBody>
      </p:sp>
      <p:sp>
        <p:nvSpPr>
          <p:cNvPr id="31" name="Text 29"/>
          <p:cNvSpPr txBox="1"/>
          <p:nvPr/>
        </p:nvSpPr>
        <p:spPr>
          <a:xfrm>
            <a:off x="7406640" y="2350008"/>
            <a:ext cx="1298448" cy="1737360"/>
          </a:xfrm>
          <a:prstGeom prst="rect">
            <a:avLst/>
          </a:prstGeom>
          <a:noFill/>
          <a:ln/>
        </p:spPr>
        <p:txBody>
          <a:bodyPr wrap="square" lIns="0" tIns="0" rIns="0" bIns="0" rtlCol="0" anchor="t"/>
          <a:lstStyle/>
          <a:p>
            <a:pPr algn="ctr" indent="0" marL="0">
              <a:buNone/>
            </a:pPr>
            <a:r>
              <a:rPr lang="en-US" sz="1050" dirty="0">
                <a:solidFill>
                  <a:srgbClr val="6E655C"/>
                </a:solidFill>
                <a:latin typeface="Calibri" pitchFamily="34" charset="0"/>
                <a:ea typeface="Calibri" pitchFamily="34" charset="-122"/>
                <a:cs typeface="Calibri" pitchFamily="34" charset="-120"/>
              </a:rPr>
              <a:t>Inlogcodes werkend gekregen, na één mailprovider die het niet bleek te kunnen.</a:t>
            </a:r>
            <a:endParaRPr lang="en-US" sz="1050" dirty="0"/>
          </a:p>
        </p:txBody>
      </p:sp>
      <p:sp>
        <p:nvSpPr>
          <p:cNvPr id="32" name="Shape 30"/>
          <p:cNvSpPr/>
          <p:nvPr/>
        </p:nvSpPr>
        <p:spPr>
          <a:xfrm>
            <a:off x="457200" y="3520440"/>
            <a:ext cx="8229600" cy="548640"/>
          </a:xfrm>
          <a:prstGeom prst="roundRect">
            <a:avLst>
              <a:gd name="adj" fmla="val 16667"/>
            </a:avLst>
          </a:prstGeom>
          <a:solidFill>
            <a:srgbClr val="FFF1E6"/>
          </a:solidFill>
          <a:ln w="12700">
            <a:solidFill>
              <a:srgbClr val="FFF1E6"/>
            </a:solidFill>
            <a:prstDash val="solid"/>
          </a:ln>
        </p:spPr>
      </p:sp>
      <p:sp>
        <p:nvSpPr>
          <p:cNvPr id="33" name="Text 31"/>
          <p:cNvSpPr txBox="1"/>
          <p:nvPr/>
        </p:nvSpPr>
        <p:spPr>
          <a:xfrm>
            <a:off x="640080" y="3520440"/>
            <a:ext cx="7863840" cy="548640"/>
          </a:xfrm>
          <a:prstGeom prst="rect">
            <a:avLst/>
          </a:prstGeom>
          <a:noFill/>
          <a:ln/>
        </p:spPr>
        <p:txBody>
          <a:bodyPr wrap="square" lIns="0" tIns="0" rIns="0" bIns="0" rtlCol="0" anchor="ctr"/>
          <a:lstStyle/>
          <a:p>
            <a:pPr indent="0" marL="0">
              <a:buNone/>
            </a:pPr>
            <a:r>
              <a:rPr lang="en-US" sz="1150" b="1" dirty="0">
                <a:solidFill>
                  <a:srgbClr val="C24E00"/>
                </a:solidFill>
                <a:latin typeface="Calibri" pitchFamily="34" charset="0"/>
                <a:ea typeface="Calibri" pitchFamily="34" charset="-122"/>
                <a:cs typeface="Calibri" pitchFamily="34" charset="-120"/>
              </a:rPr>
              <a:t>Doorlooptijd: ongeveer een week, in de avonduren. </a:t>
            </a:r>
            <a:pPr indent="0" marL="0">
              <a:buNone/>
            </a:pPr>
            <a:r>
              <a:rPr lang="en-US" sz="1150" dirty="0">
                <a:solidFill>
                  <a:srgbClr val="C24E00"/>
                </a:solidFill>
                <a:latin typeface="Calibri" pitchFamily="34" charset="0"/>
                <a:ea typeface="Calibri" pitchFamily="34" charset="-122"/>
                <a:cs typeface="Calibri" pitchFamily="34" charset="-120"/>
              </a:rPr>
              <a:t>De meeste tijd zat niet in het bouwen maar in het testen: pas als je het écht draait, komen de fouten boven water.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171310"/>
                </a:solidFill>
                <a:latin typeface="Arial" pitchFamily="34" charset="0"/>
                <a:ea typeface="Arial" pitchFamily="34" charset="-122"/>
                <a:cs typeface="Arial" pitchFamily="34" charset="-120"/>
              </a:rPr>
              <a:t>Privacy: wat we opslaan en wie het ziet</a:t>
            </a:r>
            <a:endParaRPr lang="en-US" sz="2800" dirty="0"/>
          </a:p>
        </p:txBody>
      </p:sp>
      <p:sp>
        <p:nvSpPr>
          <p:cNvPr id="3" name="Shape 1"/>
          <p:cNvSpPr/>
          <p:nvPr/>
        </p:nvSpPr>
        <p:spPr>
          <a:xfrm>
            <a:off x="457200" y="1188720"/>
            <a:ext cx="3200400" cy="3429000"/>
          </a:xfrm>
          <a:prstGeom prst="roundRect">
            <a:avLst>
              <a:gd name="adj" fmla="val 3429"/>
            </a:avLst>
          </a:prstGeom>
          <a:solidFill>
            <a:srgbClr val="F7F6F4"/>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4" name="Text 2"/>
          <p:cNvSpPr txBox="1"/>
          <p:nvPr/>
        </p:nvSpPr>
        <p:spPr>
          <a:xfrm>
            <a:off x="685800" y="1371600"/>
            <a:ext cx="2743200" cy="274320"/>
          </a:xfrm>
          <a:prstGeom prst="rect">
            <a:avLst/>
          </a:prstGeom>
          <a:noFill/>
          <a:ln/>
        </p:spPr>
        <p:txBody>
          <a:bodyPr wrap="square" lIns="0" tIns="0" rIns="0" bIns="0" rtlCol="0" anchor="ctr"/>
          <a:lstStyle/>
          <a:p>
            <a:pPr indent="0" marL="0">
              <a:buNone/>
            </a:pPr>
            <a:r>
              <a:rPr lang="en-US" sz="1300" b="1" dirty="0">
                <a:solidFill>
                  <a:srgbClr val="171310"/>
                </a:solidFill>
                <a:latin typeface="Arial" pitchFamily="34" charset="0"/>
                <a:ea typeface="Arial" pitchFamily="34" charset="-122"/>
                <a:cs typeface="Arial" pitchFamily="34" charset="-120"/>
              </a:rPr>
              <a:t>Wat wordt opgeslagen</a:t>
            </a:r>
            <a:endParaRPr lang="en-US" sz="1300" dirty="0"/>
          </a:p>
        </p:txBody>
      </p:sp>
      <p:sp>
        <p:nvSpPr>
          <p:cNvPr id="5" name="Text 3"/>
          <p:cNvSpPr txBox="1"/>
          <p:nvPr/>
        </p:nvSpPr>
        <p:spPr>
          <a:xfrm>
            <a:off x="685800" y="1691640"/>
            <a:ext cx="2788920"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71310"/>
                </a:solidFill>
                <a:latin typeface="Calibri" pitchFamily="34" charset="0"/>
                <a:ea typeface="Calibri" pitchFamily="34" charset="-122"/>
                <a:cs typeface="Calibri" pitchFamily="34" charset="-120"/>
              </a:rPr>
              <a:t>Naam, adres, telefoonnummer</a:t>
            </a:r>
            <a:endParaRPr lang="en-US" sz="1150" dirty="0"/>
          </a:p>
          <a:p>
            <a:pPr marL="342900" indent="-342900">
              <a:spcAft>
                <a:spcPts val="400"/>
              </a:spcAft>
              <a:buSzPct val="100000"/>
              <a:buChar char="•"/>
            </a:pPr>
            <a:r>
              <a:rPr lang="en-US" sz="1150" dirty="0">
                <a:solidFill>
                  <a:srgbClr val="171310"/>
                </a:solidFill>
                <a:latin typeface="Calibri" pitchFamily="34" charset="0"/>
                <a:ea typeface="Calibri" pitchFamily="34" charset="-122"/>
                <a:cs typeface="Calibri" pitchFamily="34" charset="-120"/>
              </a:rPr>
              <a:t>Gezinsgrootte (bepaalt het pakket)</a:t>
            </a:r>
            <a:endParaRPr lang="en-US" sz="1150" dirty="0"/>
          </a:p>
          <a:p>
            <a:pPr marL="342900" indent="-342900">
              <a:spcAft>
                <a:spcPts val="400"/>
              </a:spcAft>
              <a:buSzPct val="100000"/>
              <a:buChar char="•"/>
            </a:pPr>
            <a:r>
              <a:rPr lang="en-US" sz="1150" dirty="0">
                <a:solidFill>
                  <a:srgbClr val="171310"/>
                </a:solidFill>
                <a:latin typeface="Calibri" pitchFamily="34" charset="0"/>
                <a:ea typeface="Calibri" pitchFamily="34" charset="-122"/>
                <a:cs typeface="Calibri" pitchFamily="34" charset="-120"/>
              </a:rPr>
              <a:t>Wensen en allergieën</a:t>
            </a:r>
            <a:endParaRPr lang="en-US" sz="1150" dirty="0"/>
          </a:p>
          <a:p>
            <a:pPr marL="342900" indent="-342900">
              <a:spcAft>
                <a:spcPts val="400"/>
              </a:spcAft>
              <a:buSzPct val="100000"/>
              <a:buChar char="•"/>
            </a:pPr>
            <a:r>
              <a:rPr lang="en-US" sz="1150" dirty="0">
                <a:solidFill>
                  <a:srgbClr val="171310"/>
                </a:solidFill>
                <a:latin typeface="Calibri" pitchFamily="34" charset="0"/>
                <a:ea typeface="Calibri" pitchFamily="34" charset="-122"/>
                <a:cs typeface="Calibri" pitchFamily="34" charset="-120"/>
              </a:rPr>
              <a:t>Uitdeellocatie</a:t>
            </a:r>
            <a:endParaRPr lang="en-US" sz="1150" dirty="0"/>
          </a:p>
          <a:p>
            <a:pPr marL="342900" indent="-342900">
              <a:spcAft>
                <a:spcPts val="400"/>
              </a:spcAft>
              <a:buSzPct val="100000"/>
              <a:buChar char="•"/>
            </a:pPr>
            <a:r>
              <a:rPr lang="en-US" sz="1150" dirty="0">
                <a:solidFill>
                  <a:srgbClr val="171310"/>
                </a:solidFill>
                <a:latin typeface="Calibri" pitchFamily="34" charset="0"/>
                <a:ea typeface="Calibri" pitchFamily="34" charset="-122"/>
                <a:cs typeface="Calibri" pitchFamily="34" charset="-120"/>
              </a:rPr>
              <a:t>Op welke dag een pakket is opgehaald</a:t>
            </a:r>
            <a:endParaRPr lang="en-US" sz="1150" dirty="0"/>
          </a:p>
        </p:txBody>
      </p:sp>
      <p:sp>
        <p:nvSpPr>
          <p:cNvPr id="6" name="Text 4"/>
          <p:cNvSpPr txBox="1"/>
          <p:nvPr/>
        </p:nvSpPr>
        <p:spPr>
          <a:xfrm>
            <a:off x="685800" y="3246120"/>
            <a:ext cx="2743200" cy="274320"/>
          </a:xfrm>
          <a:prstGeom prst="rect">
            <a:avLst/>
          </a:prstGeom>
          <a:noFill/>
          <a:ln/>
        </p:spPr>
        <p:txBody>
          <a:bodyPr wrap="square" lIns="0" tIns="0" rIns="0" bIns="0" rtlCol="0" anchor="ctr"/>
          <a:lstStyle/>
          <a:p>
            <a:pPr indent="0" marL="0">
              <a:buNone/>
            </a:pPr>
            <a:r>
              <a:rPr lang="en-US" sz="1300" b="1" dirty="0">
                <a:solidFill>
                  <a:srgbClr val="171310"/>
                </a:solidFill>
                <a:latin typeface="Arial" pitchFamily="34" charset="0"/>
                <a:ea typeface="Arial" pitchFamily="34" charset="-122"/>
                <a:cs typeface="Arial" pitchFamily="34" charset="-120"/>
              </a:rPr>
              <a:t>Niet opgeslagen</a:t>
            </a:r>
            <a:endParaRPr lang="en-US" sz="1300" dirty="0"/>
          </a:p>
        </p:txBody>
      </p:sp>
      <p:sp>
        <p:nvSpPr>
          <p:cNvPr id="7" name="Text 5"/>
          <p:cNvSpPr txBox="1"/>
          <p:nvPr/>
        </p:nvSpPr>
        <p:spPr>
          <a:xfrm>
            <a:off x="685800" y="3566160"/>
            <a:ext cx="2788920" cy="822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71310"/>
                </a:solidFill>
                <a:latin typeface="Calibri" pitchFamily="34" charset="0"/>
                <a:ea typeface="Calibri" pitchFamily="34" charset="-122"/>
                <a:cs typeface="Calibri" pitchFamily="34" charset="-120"/>
              </a:rPr>
              <a:t>BSN, inkomen, schulden</a:t>
            </a:r>
            <a:endParaRPr lang="en-US" sz="1150" dirty="0"/>
          </a:p>
          <a:p>
            <a:pPr marL="342900" indent="-342900">
              <a:spcAft>
                <a:spcPts val="400"/>
              </a:spcAft>
              <a:buSzPct val="100000"/>
              <a:buChar char="•"/>
            </a:pPr>
            <a:r>
              <a:rPr lang="en-US" sz="1150" dirty="0">
                <a:solidFill>
                  <a:srgbClr val="171310"/>
                </a:solidFill>
                <a:latin typeface="Calibri" pitchFamily="34" charset="0"/>
                <a:ea typeface="Calibri" pitchFamily="34" charset="-122"/>
                <a:cs typeface="Calibri" pitchFamily="34" charset="-120"/>
              </a:rPr>
              <a:t>Wachtwoorden — er zijn er geen</a:t>
            </a:r>
            <a:endParaRPr lang="en-US" sz="1150" dirty="0"/>
          </a:p>
        </p:txBody>
      </p:sp>
      <p:sp>
        <p:nvSpPr>
          <p:cNvPr id="8" name="Shape 6"/>
          <p:cNvSpPr/>
          <p:nvPr/>
        </p:nvSpPr>
        <p:spPr>
          <a:xfrm>
            <a:off x="3977640" y="1207008"/>
            <a:ext cx="566928" cy="566928"/>
          </a:xfrm>
          <a:prstGeom prst="ellipse">
            <a:avLst/>
          </a:prstGeom>
          <a:solidFill>
            <a:srgbClr val="FF7212"/>
          </a:solidFill>
          <a:ln w="12700">
            <a:solidFill>
              <a:srgbClr val="FF7212"/>
            </a:solidFill>
            <a:prstDash val="solid"/>
          </a:ln>
        </p:spPr>
      </p:sp>
      <p:pic>
        <p:nvPicPr>
          <p:cNvPr id="9" name="Image 0" descr="preencoded.png">    </p:cNvPr>
          <p:cNvPicPr>
            <a:picLocks noChangeAspect="1"/>
          </p:cNvPicPr>
          <p:nvPr/>
        </p:nvPicPr>
        <p:blipFill>
          <a:blip r:embed="rId1"/>
          <a:stretch>
            <a:fillRect/>
          </a:stretch>
        </p:blipFill>
        <p:spPr>
          <a:xfrm>
            <a:off x="4125041" y="1354409"/>
            <a:ext cx="272125" cy="272125"/>
          </a:xfrm>
          <a:prstGeom prst="rect">
            <a:avLst/>
          </a:prstGeom>
        </p:spPr>
      </p:pic>
      <p:sp>
        <p:nvSpPr>
          <p:cNvPr id="10" name="Text 7"/>
          <p:cNvSpPr txBox="1"/>
          <p:nvPr/>
        </p:nvSpPr>
        <p:spPr>
          <a:xfrm>
            <a:off x="4745736" y="1188720"/>
            <a:ext cx="3941064" cy="274320"/>
          </a:xfrm>
          <a:prstGeom prst="rect">
            <a:avLst/>
          </a:prstGeom>
          <a:noFill/>
          <a:ln/>
        </p:spPr>
        <p:txBody>
          <a:bodyPr wrap="square" lIns="0" tIns="0" rIns="0" bIns="0" rtlCol="0" anchor="t"/>
          <a:lstStyle/>
          <a:p>
            <a:pPr indent="0" marL="0">
              <a:buNone/>
            </a:pPr>
            <a:r>
              <a:rPr lang="en-US" sz="1400" b="1" dirty="0">
                <a:solidFill>
                  <a:srgbClr val="171310"/>
                </a:solidFill>
                <a:latin typeface="Arial" pitchFamily="34" charset="0"/>
                <a:ea typeface="Arial" pitchFamily="34" charset="-122"/>
                <a:cs typeface="Arial" pitchFamily="34" charset="-120"/>
              </a:rPr>
              <a:t>Iedereen ziet alleen wat nodig is</a:t>
            </a:r>
            <a:endParaRPr lang="en-US" sz="1400" dirty="0"/>
          </a:p>
        </p:txBody>
      </p:sp>
      <p:sp>
        <p:nvSpPr>
          <p:cNvPr id="11" name="Text 8"/>
          <p:cNvSpPr txBox="1"/>
          <p:nvPr/>
        </p:nvSpPr>
        <p:spPr>
          <a:xfrm>
            <a:off x="4745736" y="1463040"/>
            <a:ext cx="3941064" cy="502920"/>
          </a:xfrm>
          <a:prstGeom prst="rect">
            <a:avLst/>
          </a:prstGeom>
          <a:noFill/>
          <a:ln/>
        </p:spPr>
        <p:txBody>
          <a:bodyPr wrap="square" lIns="0" tIns="0" rIns="0" bIns="0" rtlCol="0" anchor="t"/>
          <a:lstStyle/>
          <a:p>
            <a:pPr indent="0" marL="0">
              <a:buNone/>
            </a:pPr>
            <a:r>
              <a:rPr lang="en-US" sz="1250" dirty="0">
                <a:solidFill>
                  <a:srgbClr val="6E655C"/>
                </a:solidFill>
                <a:latin typeface="Calibri" pitchFamily="34" charset="0"/>
                <a:ea typeface="Calibri" pitchFamily="34" charset="-122"/>
                <a:cs typeface="Calibri" pitchFamily="34" charset="-120"/>
              </a:rPr>
              <a:t>Een klant ziet alleen zichzelf; een vrijwilliger ziet naam, pakket en wensen, geen e-mailadres. Afgedwongen in de database zelf.</a:t>
            </a:r>
            <a:endParaRPr lang="en-US" sz="1250" dirty="0"/>
          </a:p>
        </p:txBody>
      </p:sp>
      <p:sp>
        <p:nvSpPr>
          <p:cNvPr id="12" name="Shape 9"/>
          <p:cNvSpPr/>
          <p:nvPr/>
        </p:nvSpPr>
        <p:spPr>
          <a:xfrm>
            <a:off x="3977640" y="2075688"/>
            <a:ext cx="566928" cy="566928"/>
          </a:xfrm>
          <a:prstGeom prst="ellipse">
            <a:avLst/>
          </a:prstGeom>
          <a:solidFill>
            <a:srgbClr val="FF7212"/>
          </a:solidFill>
          <a:ln w="12700">
            <a:solidFill>
              <a:srgbClr val="FF7212"/>
            </a:solidFill>
            <a:prstDash val="solid"/>
          </a:ln>
        </p:spPr>
      </p:sp>
      <p:pic>
        <p:nvPicPr>
          <p:cNvPr id="13" name="Image 1" descr="preencoded.png">    </p:cNvPr>
          <p:cNvPicPr>
            <a:picLocks noChangeAspect="1"/>
          </p:cNvPicPr>
          <p:nvPr/>
        </p:nvPicPr>
        <p:blipFill>
          <a:blip r:embed="rId2"/>
          <a:stretch>
            <a:fillRect/>
          </a:stretch>
        </p:blipFill>
        <p:spPr>
          <a:xfrm>
            <a:off x="4125041" y="2223089"/>
            <a:ext cx="272125" cy="272125"/>
          </a:xfrm>
          <a:prstGeom prst="rect">
            <a:avLst/>
          </a:prstGeom>
        </p:spPr>
      </p:pic>
      <p:sp>
        <p:nvSpPr>
          <p:cNvPr id="14" name="Text 10"/>
          <p:cNvSpPr txBox="1"/>
          <p:nvPr/>
        </p:nvSpPr>
        <p:spPr>
          <a:xfrm>
            <a:off x="4745736" y="2057400"/>
            <a:ext cx="3941064" cy="274320"/>
          </a:xfrm>
          <a:prstGeom prst="rect">
            <a:avLst/>
          </a:prstGeom>
          <a:noFill/>
          <a:ln/>
        </p:spPr>
        <p:txBody>
          <a:bodyPr wrap="square" lIns="0" tIns="0" rIns="0" bIns="0" rtlCol="0" anchor="t"/>
          <a:lstStyle/>
          <a:p>
            <a:pPr indent="0" marL="0">
              <a:buNone/>
            </a:pPr>
            <a:r>
              <a:rPr lang="en-US" sz="1400" b="1" dirty="0">
                <a:solidFill>
                  <a:srgbClr val="171310"/>
                </a:solidFill>
                <a:latin typeface="Arial" pitchFamily="34" charset="0"/>
                <a:ea typeface="Arial" pitchFamily="34" charset="-122"/>
                <a:cs typeface="Arial" pitchFamily="34" charset="-120"/>
              </a:rPr>
              <a:t>De QR-code bevat geen persoonsgegevens</a:t>
            </a:r>
            <a:endParaRPr lang="en-US" sz="1400" dirty="0"/>
          </a:p>
        </p:txBody>
      </p:sp>
      <p:sp>
        <p:nvSpPr>
          <p:cNvPr id="15" name="Text 11"/>
          <p:cNvSpPr txBox="1"/>
          <p:nvPr/>
        </p:nvSpPr>
        <p:spPr>
          <a:xfrm>
            <a:off x="4745736" y="2331720"/>
            <a:ext cx="3941064" cy="502920"/>
          </a:xfrm>
          <a:prstGeom prst="rect">
            <a:avLst/>
          </a:prstGeom>
          <a:noFill/>
          <a:ln/>
        </p:spPr>
        <p:txBody>
          <a:bodyPr wrap="square" lIns="0" tIns="0" rIns="0" bIns="0" rtlCol="0" anchor="t"/>
          <a:lstStyle/>
          <a:p>
            <a:pPr indent="0" marL="0">
              <a:buNone/>
            </a:pPr>
            <a:r>
              <a:rPr lang="en-US" sz="1250" dirty="0">
                <a:solidFill>
                  <a:srgbClr val="6E655C"/>
                </a:solidFill>
                <a:latin typeface="Calibri" pitchFamily="34" charset="0"/>
                <a:ea typeface="Calibri" pitchFamily="34" charset="-122"/>
                <a:cs typeface="Calibri" pitchFamily="34" charset="-120"/>
              </a:rPr>
              <a:t>Alleen een pasnummer. Wie een screenshot doorstuurt, geeft niets prijs.</a:t>
            </a:r>
            <a:endParaRPr lang="en-US" sz="1250" dirty="0"/>
          </a:p>
        </p:txBody>
      </p:sp>
      <p:sp>
        <p:nvSpPr>
          <p:cNvPr id="16" name="Shape 12"/>
          <p:cNvSpPr/>
          <p:nvPr/>
        </p:nvSpPr>
        <p:spPr>
          <a:xfrm>
            <a:off x="3977640" y="2944368"/>
            <a:ext cx="566928" cy="566928"/>
          </a:xfrm>
          <a:prstGeom prst="ellipse">
            <a:avLst/>
          </a:prstGeom>
          <a:solidFill>
            <a:srgbClr val="FF7212"/>
          </a:solidFill>
          <a:ln w="12700">
            <a:solidFill>
              <a:srgbClr val="FF7212"/>
            </a:solidFill>
            <a:prstDash val="solid"/>
          </a:ln>
        </p:spPr>
      </p:sp>
      <p:pic>
        <p:nvPicPr>
          <p:cNvPr id="17" name="Image 2" descr="preencoded.png">    </p:cNvPr>
          <p:cNvPicPr>
            <a:picLocks noChangeAspect="1"/>
          </p:cNvPicPr>
          <p:nvPr/>
        </p:nvPicPr>
        <p:blipFill>
          <a:blip r:embed="rId3"/>
          <a:stretch>
            <a:fillRect/>
          </a:stretch>
        </p:blipFill>
        <p:spPr>
          <a:xfrm>
            <a:off x="4125041" y="3091769"/>
            <a:ext cx="272125" cy="272125"/>
          </a:xfrm>
          <a:prstGeom prst="rect">
            <a:avLst/>
          </a:prstGeom>
        </p:spPr>
      </p:pic>
      <p:sp>
        <p:nvSpPr>
          <p:cNvPr id="18" name="Text 13"/>
          <p:cNvSpPr txBox="1"/>
          <p:nvPr/>
        </p:nvSpPr>
        <p:spPr>
          <a:xfrm>
            <a:off x="4745736" y="2926080"/>
            <a:ext cx="3941064" cy="274320"/>
          </a:xfrm>
          <a:prstGeom prst="rect">
            <a:avLst/>
          </a:prstGeom>
          <a:noFill/>
          <a:ln/>
        </p:spPr>
        <p:txBody>
          <a:bodyPr wrap="square" lIns="0" tIns="0" rIns="0" bIns="0" rtlCol="0" anchor="t"/>
          <a:lstStyle/>
          <a:p>
            <a:pPr indent="0" marL="0">
              <a:buNone/>
            </a:pPr>
            <a:r>
              <a:rPr lang="en-US" sz="1400" b="1" dirty="0">
                <a:solidFill>
                  <a:srgbClr val="171310"/>
                </a:solidFill>
                <a:latin typeface="Arial" pitchFamily="34" charset="0"/>
                <a:ea typeface="Arial" pitchFamily="34" charset="-122"/>
                <a:cs typeface="Arial" pitchFamily="34" charset="-120"/>
              </a:rPr>
              <a:t>Opslag binnen de EU</a:t>
            </a:r>
            <a:endParaRPr lang="en-US" sz="1400" dirty="0"/>
          </a:p>
        </p:txBody>
      </p:sp>
      <p:sp>
        <p:nvSpPr>
          <p:cNvPr id="19" name="Text 14"/>
          <p:cNvSpPr txBox="1"/>
          <p:nvPr/>
        </p:nvSpPr>
        <p:spPr>
          <a:xfrm>
            <a:off x="4745736" y="3200400"/>
            <a:ext cx="3941064" cy="502920"/>
          </a:xfrm>
          <a:prstGeom prst="rect">
            <a:avLst/>
          </a:prstGeom>
          <a:noFill/>
          <a:ln/>
        </p:spPr>
        <p:txBody>
          <a:bodyPr wrap="square" lIns="0" tIns="0" rIns="0" bIns="0" rtlCol="0" anchor="t"/>
          <a:lstStyle/>
          <a:p>
            <a:pPr indent="0" marL="0">
              <a:buNone/>
            </a:pPr>
            <a:r>
              <a:rPr lang="en-US" sz="1250" dirty="0">
                <a:solidFill>
                  <a:srgbClr val="6E655C"/>
                </a:solidFill>
                <a:latin typeface="Calibri" pitchFamily="34" charset="0"/>
                <a:ea typeface="Calibri" pitchFamily="34" charset="-122"/>
                <a:cs typeface="Calibri" pitchFamily="34" charset="-120"/>
              </a:rPr>
              <a:t>Servers in Frankfurt. Getoetst met de beveiligingsscan van Supabase: geen openstaande waarschuwingen.</a:t>
            </a:r>
            <a:endParaRPr lang="en-US" sz="1250" dirty="0"/>
          </a:p>
        </p:txBody>
      </p:sp>
      <p:sp>
        <p:nvSpPr>
          <p:cNvPr id="20" name="Shape 15"/>
          <p:cNvSpPr/>
          <p:nvPr/>
        </p:nvSpPr>
        <p:spPr>
          <a:xfrm>
            <a:off x="3977640" y="3813048"/>
            <a:ext cx="566928" cy="566928"/>
          </a:xfrm>
          <a:prstGeom prst="ellipse">
            <a:avLst/>
          </a:prstGeom>
          <a:solidFill>
            <a:srgbClr val="FF7212"/>
          </a:solidFill>
          <a:ln w="12700">
            <a:solidFill>
              <a:srgbClr val="FF7212"/>
            </a:solidFill>
            <a:prstDash val="solid"/>
          </a:ln>
        </p:spPr>
      </p:sp>
      <p:pic>
        <p:nvPicPr>
          <p:cNvPr id="21" name="Image 3" descr="preencoded.png">    </p:cNvPr>
          <p:cNvPicPr>
            <a:picLocks noChangeAspect="1"/>
          </p:cNvPicPr>
          <p:nvPr/>
        </p:nvPicPr>
        <p:blipFill>
          <a:blip r:embed="rId4"/>
          <a:stretch>
            <a:fillRect/>
          </a:stretch>
        </p:blipFill>
        <p:spPr>
          <a:xfrm>
            <a:off x="4125041" y="3960449"/>
            <a:ext cx="272125" cy="272125"/>
          </a:xfrm>
          <a:prstGeom prst="rect">
            <a:avLst/>
          </a:prstGeom>
        </p:spPr>
      </p:pic>
      <p:sp>
        <p:nvSpPr>
          <p:cNvPr id="22" name="Text 16"/>
          <p:cNvSpPr txBox="1"/>
          <p:nvPr/>
        </p:nvSpPr>
        <p:spPr>
          <a:xfrm>
            <a:off x="4745736" y="3794760"/>
            <a:ext cx="3941064" cy="274320"/>
          </a:xfrm>
          <a:prstGeom prst="rect">
            <a:avLst/>
          </a:prstGeom>
          <a:noFill/>
          <a:ln/>
        </p:spPr>
        <p:txBody>
          <a:bodyPr wrap="square" lIns="0" tIns="0" rIns="0" bIns="0" rtlCol="0" anchor="t"/>
          <a:lstStyle/>
          <a:p>
            <a:pPr indent="0" marL="0">
              <a:buNone/>
            </a:pPr>
            <a:r>
              <a:rPr lang="en-US" sz="1400" b="1" dirty="0">
                <a:solidFill>
                  <a:srgbClr val="171310"/>
                </a:solidFill>
                <a:latin typeface="Arial" pitchFamily="34" charset="0"/>
                <a:ea typeface="Arial" pitchFamily="34" charset="-122"/>
                <a:cs typeface="Arial" pitchFamily="34" charset="-120"/>
              </a:rPr>
              <a:t>Recht op verwijdering</a:t>
            </a:r>
            <a:endParaRPr lang="en-US" sz="1400" dirty="0"/>
          </a:p>
        </p:txBody>
      </p:sp>
      <p:sp>
        <p:nvSpPr>
          <p:cNvPr id="23" name="Text 17"/>
          <p:cNvSpPr txBox="1"/>
          <p:nvPr/>
        </p:nvSpPr>
        <p:spPr>
          <a:xfrm>
            <a:off x="4745736" y="4069080"/>
            <a:ext cx="3941064" cy="502920"/>
          </a:xfrm>
          <a:prstGeom prst="rect">
            <a:avLst/>
          </a:prstGeom>
          <a:noFill/>
          <a:ln/>
        </p:spPr>
        <p:txBody>
          <a:bodyPr wrap="square" lIns="0" tIns="0" rIns="0" bIns="0" rtlCol="0" anchor="t"/>
          <a:lstStyle/>
          <a:p>
            <a:pPr indent="0" marL="0">
              <a:buNone/>
            </a:pPr>
            <a:r>
              <a:rPr lang="en-US" sz="1250" dirty="0">
                <a:solidFill>
                  <a:srgbClr val="6E655C"/>
                </a:solidFill>
                <a:latin typeface="Calibri" pitchFamily="34" charset="0"/>
                <a:ea typeface="Calibri" pitchFamily="34" charset="-122"/>
                <a:cs typeface="Calibri" pitchFamily="34" charset="-120"/>
              </a:rPr>
              <a:t>Een klant kan zijn account zelf wissen. Alles wat bij hem hoort, gaat dan mee.</a:t>
            </a:r>
            <a:endParaRPr lang="en-US" sz="1250" dirty="0"/>
          </a:p>
        </p:txBody>
      </p:sp>
      <p:sp>
        <p:nvSpPr>
          <p:cNvPr id="24" name="Text 18"/>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968C83"/>
                </a:solidFill>
                <a:latin typeface="Calibri" pitchFamily="34" charset="0"/>
                <a:ea typeface="Calibri" pitchFamily="34" charset="-122"/>
                <a:cs typeface="Calibri" pitchFamily="34" charset="-120"/>
              </a:rPr>
              <a:t>Allergieën en diabetes zijn gezondheidsgegevens. Daarom hoort er een verwerkersovereenkomst met Supabase bij, en een aanvulling op de privacyverklaring — zie de volgende stappen.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171310"/>
                </a:solidFill>
                <a:latin typeface="Arial" pitchFamily="34" charset="0"/>
                <a:ea typeface="Arial" pitchFamily="34" charset="-122"/>
                <a:cs typeface="Arial" pitchFamily="34" charset="-120"/>
              </a:rPr>
              <a:t>Wat vandaag al werkt</a:t>
            </a:r>
            <a:endParaRPr lang="en-US" sz="2800" dirty="0"/>
          </a:p>
        </p:txBody>
      </p:sp>
      <p:sp>
        <p:nvSpPr>
          <p:cNvPr id="3" name="Shape 1"/>
          <p:cNvSpPr/>
          <p:nvPr/>
        </p:nvSpPr>
        <p:spPr>
          <a:xfrm>
            <a:off x="457200" y="1271016"/>
            <a:ext cx="329184" cy="329184"/>
          </a:xfrm>
          <a:prstGeom prst="ellipse">
            <a:avLst/>
          </a:prstGeom>
          <a:solidFill>
            <a:srgbClr val="E7F4ED"/>
          </a:solidFill>
          <a:ln w="12700">
            <a:solidFill>
              <a:srgbClr val="E7F4ED"/>
            </a:solidFill>
            <a:prstDash val="solid"/>
          </a:ln>
        </p:spPr>
      </p:sp>
      <p:pic>
        <p:nvPicPr>
          <p:cNvPr id="4" name="Image 0" descr="preencoded.png">    </p:cNvPr>
          <p:cNvPicPr>
            <a:picLocks noChangeAspect="1"/>
          </p:cNvPicPr>
          <p:nvPr/>
        </p:nvPicPr>
        <p:blipFill>
          <a:blip r:embed="rId1"/>
          <a:stretch>
            <a:fillRect/>
          </a:stretch>
        </p:blipFill>
        <p:spPr>
          <a:xfrm>
            <a:off x="521208" y="1335024"/>
            <a:ext cx="201168" cy="201168"/>
          </a:xfrm>
          <a:prstGeom prst="rect">
            <a:avLst/>
          </a:prstGeom>
        </p:spPr>
      </p:pic>
      <p:sp>
        <p:nvSpPr>
          <p:cNvPr id="5" name="Text 2"/>
          <p:cNvSpPr txBox="1"/>
          <p:nvPr/>
        </p:nvSpPr>
        <p:spPr>
          <a:xfrm>
            <a:off x="914400" y="1234440"/>
            <a:ext cx="3520440" cy="411480"/>
          </a:xfrm>
          <a:prstGeom prst="rect">
            <a:avLst/>
          </a:prstGeom>
          <a:noFill/>
          <a:ln/>
        </p:spPr>
        <p:txBody>
          <a:bodyPr wrap="square" lIns="0" tIns="0" rIns="0" bIns="0" rtlCol="0" anchor="ctr"/>
          <a:lstStyle/>
          <a:p>
            <a:pPr indent="0" marL="0">
              <a:buNone/>
            </a:pPr>
            <a:r>
              <a:rPr lang="en-US" sz="1250" dirty="0">
                <a:solidFill>
                  <a:srgbClr val="171310"/>
                </a:solidFill>
                <a:latin typeface="Calibri" pitchFamily="34" charset="0"/>
                <a:ea typeface="Calibri" pitchFamily="34" charset="-122"/>
                <a:cs typeface="Calibri" pitchFamily="34" charset="-120"/>
              </a:rPr>
              <a:t>Inloggen met een code per e-mail — geen wachtwoord</a:t>
            </a:r>
            <a:endParaRPr lang="en-US" sz="1250" dirty="0"/>
          </a:p>
        </p:txBody>
      </p:sp>
      <p:sp>
        <p:nvSpPr>
          <p:cNvPr id="6" name="Shape 3"/>
          <p:cNvSpPr/>
          <p:nvPr/>
        </p:nvSpPr>
        <p:spPr>
          <a:xfrm>
            <a:off x="4709160" y="1271016"/>
            <a:ext cx="329184" cy="329184"/>
          </a:xfrm>
          <a:prstGeom prst="ellipse">
            <a:avLst/>
          </a:prstGeom>
          <a:solidFill>
            <a:srgbClr val="E7F4ED"/>
          </a:solidFill>
          <a:ln w="12700">
            <a:solidFill>
              <a:srgbClr val="E7F4ED"/>
            </a:solidFill>
            <a:prstDash val="solid"/>
          </a:ln>
        </p:spPr>
      </p:sp>
      <p:pic>
        <p:nvPicPr>
          <p:cNvPr id="7" name="Image 1" descr="preencoded.png">    </p:cNvPr>
          <p:cNvPicPr>
            <a:picLocks noChangeAspect="1"/>
          </p:cNvPicPr>
          <p:nvPr/>
        </p:nvPicPr>
        <p:blipFill>
          <a:blip r:embed="rId2"/>
          <a:stretch>
            <a:fillRect/>
          </a:stretch>
        </p:blipFill>
        <p:spPr>
          <a:xfrm>
            <a:off x="4773168" y="1335024"/>
            <a:ext cx="201168" cy="201168"/>
          </a:xfrm>
          <a:prstGeom prst="rect">
            <a:avLst/>
          </a:prstGeom>
        </p:spPr>
      </p:pic>
      <p:sp>
        <p:nvSpPr>
          <p:cNvPr id="8" name="Text 4"/>
          <p:cNvSpPr txBox="1"/>
          <p:nvPr/>
        </p:nvSpPr>
        <p:spPr>
          <a:xfrm>
            <a:off x="5166360" y="1234440"/>
            <a:ext cx="3520440" cy="411480"/>
          </a:xfrm>
          <a:prstGeom prst="rect">
            <a:avLst/>
          </a:prstGeom>
          <a:noFill/>
          <a:ln/>
        </p:spPr>
        <p:txBody>
          <a:bodyPr wrap="square" lIns="0" tIns="0" rIns="0" bIns="0" rtlCol="0" anchor="ctr"/>
          <a:lstStyle/>
          <a:p>
            <a:pPr indent="0" marL="0">
              <a:buNone/>
            </a:pPr>
            <a:r>
              <a:rPr lang="en-US" sz="1250" dirty="0">
                <a:solidFill>
                  <a:srgbClr val="171310"/>
                </a:solidFill>
                <a:latin typeface="Calibri" pitchFamily="34" charset="0"/>
                <a:ea typeface="Calibri" pitchFamily="34" charset="-122"/>
                <a:cs typeface="Calibri" pitchFamily="34" charset="-120"/>
              </a:rPr>
              <a:t>Aanmelden in vier stappen; pakket wordt automatisch berekend</a:t>
            </a:r>
            <a:endParaRPr lang="en-US" sz="1250" dirty="0"/>
          </a:p>
        </p:txBody>
      </p:sp>
      <p:sp>
        <p:nvSpPr>
          <p:cNvPr id="9" name="Shape 5"/>
          <p:cNvSpPr/>
          <p:nvPr/>
        </p:nvSpPr>
        <p:spPr>
          <a:xfrm>
            <a:off x="457200" y="1929384"/>
            <a:ext cx="329184" cy="329184"/>
          </a:xfrm>
          <a:prstGeom prst="ellipse">
            <a:avLst/>
          </a:prstGeom>
          <a:solidFill>
            <a:srgbClr val="E7F4ED"/>
          </a:solidFill>
          <a:ln w="12700">
            <a:solidFill>
              <a:srgbClr val="E7F4ED"/>
            </a:solidFill>
            <a:prstDash val="solid"/>
          </a:ln>
        </p:spPr>
      </p:sp>
      <p:pic>
        <p:nvPicPr>
          <p:cNvPr id="10" name="Image 2" descr="preencoded.png">    </p:cNvPr>
          <p:cNvPicPr>
            <a:picLocks noChangeAspect="1"/>
          </p:cNvPicPr>
          <p:nvPr/>
        </p:nvPicPr>
        <p:blipFill>
          <a:blip r:embed="rId3"/>
          <a:stretch>
            <a:fillRect/>
          </a:stretch>
        </p:blipFill>
        <p:spPr>
          <a:xfrm>
            <a:off x="521208" y="1993392"/>
            <a:ext cx="201168" cy="201168"/>
          </a:xfrm>
          <a:prstGeom prst="rect">
            <a:avLst/>
          </a:prstGeom>
        </p:spPr>
      </p:pic>
      <p:sp>
        <p:nvSpPr>
          <p:cNvPr id="11" name="Text 6"/>
          <p:cNvSpPr txBox="1"/>
          <p:nvPr/>
        </p:nvSpPr>
        <p:spPr>
          <a:xfrm>
            <a:off x="914400" y="1892808"/>
            <a:ext cx="3520440" cy="411480"/>
          </a:xfrm>
          <a:prstGeom prst="rect">
            <a:avLst/>
          </a:prstGeom>
          <a:noFill/>
          <a:ln/>
        </p:spPr>
        <p:txBody>
          <a:bodyPr wrap="square" lIns="0" tIns="0" rIns="0" bIns="0" rtlCol="0" anchor="ctr"/>
          <a:lstStyle/>
          <a:p>
            <a:pPr indent="0" marL="0">
              <a:buNone/>
            </a:pPr>
            <a:r>
              <a:rPr lang="en-US" sz="1250" dirty="0">
                <a:solidFill>
                  <a:srgbClr val="171310"/>
                </a:solidFill>
                <a:latin typeface="Calibri" pitchFamily="34" charset="0"/>
                <a:ea typeface="Calibri" pitchFamily="34" charset="-122"/>
                <a:cs typeface="Calibri" pitchFamily="34" charset="-120"/>
              </a:rPr>
              <a:t>QR-pas met pasnummer, ook voor te lezen als de camera hapert</a:t>
            </a:r>
            <a:endParaRPr lang="en-US" sz="1250" dirty="0"/>
          </a:p>
        </p:txBody>
      </p:sp>
      <p:sp>
        <p:nvSpPr>
          <p:cNvPr id="12" name="Shape 7"/>
          <p:cNvSpPr/>
          <p:nvPr/>
        </p:nvSpPr>
        <p:spPr>
          <a:xfrm>
            <a:off x="4709160" y="1929384"/>
            <a:ext cx="329184" cy="329184"/>
          </a:xfrm>
          <a:prstGeom prst="ellipse">
            <a:avLst/>
          </a:prstGeom>
          <a:solidFill>
            <a:srgbClr val="E7F4ED"/>
          </a:solidFill>
          <a:ln w="12700">
            <a:solidFill>
              <a:srgbClr val="E7F4ED"/>
            </a:solidFill>
            <a:prstDash val="solid"/>
          </a:ln>
        </p:spPr>
      </p:sp>
      <p:pic>
        <p:nvPicPr>
          <p:cNvPr id="13" name="Image 3" descr="preencoded.png">    </p:cNvPr>
          <p:cNvPicPr>
            <a:picLocks noChangeAspect="1"/>
          </p:cNvPicPr>
          <p:nvPr/>
        </p:nvPicPr>
        <p:blipFill>
          <a:blip r:embed="rId4"/>
          <a:stretch>
            <a:fillRect/>
          </a:stretch>
        </p:blipFill>
        <p:spPr>
          <a:xfrm>
            <a:off x="4773168" y="1993392"/>
            <a:ext cx="201168" cy="201168"/>
          </a:xfrm>
          <a:prstGeom prst="rect">
            <a:avLst/>
          </a:prstGeom>
        </p:spPr>
      </p:pic>
      <p:sp>
        <p:nvSpPr>
          <p:cNvPr id="14" name="Text 8"/>
          <p:cNvSpPr txBox="1"/>
          <p:nvPr/>
        </p:nvSpPr>
        <p:spPr>
          <a:xfrm>
            <a:off x="5166360" y="1892808"/>
            <a:ext cx="3520440" cy="411480"/>
          </a:xfrm>
          <a:prstGeom prst="rect">
            <a:avLst/>
          </a:prstGeom>
          <a:noFill/>
          <a:ln/>
        </p:spPr>
        <p:txBody>
          <a:bodyPr wrap="square" lIns="0" tIns="0" rIns="0" bIns="0" rtlCol="0" anchor="ctr"/>
          <a:lstStyle/>
          <a:p>
            <a:pPr indent="0" marL="0">
              <a:buNone/>
            </a:pPr>
            <a:r>
              <a:rPr lang="en-US" sz="1250" dirty="0">
                <a:solidFill>
                  <a:srgbClr val="171310"/>
                </a:solidFill>
                <a:latin typeface="Calibri" pitchFamily="34" charset="0"/>
                <a:ea typeface="Calibri" pitchFamily="34" charset="-122"/>
                <a:cs typeface="Calibri" pitchFamily="34" charset="-120"/>
              </a:rPr>
              <a:t>Scannen, pakket uitgeven, en dat ongedaan maken</a:t>
            </a:r>
            <a:endParaRPr lang="en-US" sz="1250" dirty="0"/>
          </a:p>
        </p:txBody>
      </p:sp>
      <p:sp>
        <p:nvSpPr>
          <p:cNvPr id="15" name="Shape 9"/>
          <p:cNvSpPr/>
          <p:nvPr/>
        </p:nvSpPr>
        <p:spPr>
          <a:xfrm>
            <a:off x="457200" y="2587752"/>
            <a:ext cx="329184" cy="329184"/>
          </a:xfrm>
          <a:prstGeom prst="ellipse">
            <a:avLst/>
          </a:prstGeom>
          <a:solidFill>
            <a:srgbClr val="E7F4ED"/>
          </a:solidFill>
          <a:ln w="12700">
            <a:solidFill>
              <a:srgbClr val="E7F4ED"/>
            </a:solidFill>
            <a:prstDash val="solid"/>
          </a:ln>
        </p:spPr>
      </p:sp>
      <p:pic>
        <p:nvPicPr>
          <p:cNvPr id="16" name="Image 4" descr="preencoded.png">    </p:cNvPr>
          <p:cNvPicPr>
            <a:picLocks noChangeAspect="1"/>
          </p:cNvPicPr>
          <p:nvPr/>
        </p:nvPicPr>
        <p:blipFill>
          <a:blip r:embed="rId5"/>
          <a:stretch>
            <a:fillRect/>
          </a:stretch>
        </p:blipFill>
        <p:spPr>
          <a:xfrm>
            <a:off x="521208" y="2651760"/>
            <a:ext cx="201168" cy="201168"/>
          </a:xfrm>
          <a:prstGeom prst="rect">
            <a:avLst/>
          </a:prstGeom>
        </p:spPr>
      </p:pic>
      <p:sp>
        <p:nvSpPr>
          <p:cNvPr id="17" name="Text 10"/>
          <p:cNvSpPr txBox="1"/>
          <p:nvPr/>
        </p:nvSpPr>
        <p:spPr>
          <a:xfrm>
            <a:off x="914400" y="2551176"/>
            <a:ext cx="3520440" cy="411480"/>
          </a:xfrm>
          <a:prstGeom prst="rect">
            <a:avLst/>
          </a:prstGeom>
          <a:noFill/>
          <a:ln/>
        </p:spPr>
        <p:txBody>
          <a:bodyPr wrap="square" lIns="0" tIns="0" rIns="0" bIns="0" rtlCol="0" anchor="ctr"/>
          <a:lstStyle/>
          <a:p>
            <a:pPr indent="0" marL="0">
              <a:buNone/>
            </a:pPr>
            <a:r>
              <a:rPr lang="en-US" sz="1250" dirty="0">
                <a:solidFill>
                  <a:srgbClr val="171310"/>
                </a:solidFill>
                <a:latin typeface="Calibri" pitchFamily="34" charset="0"/>
                <a:ea typeface="Calibri" pitchFamily="34" charset="-122"/>
                <a:cs typeface="Calibri" pitchFamily="34" charset="-120"/>
              </a:rPr>
              <a:t>Loods-overzicht: aantallen per pakkettype, bijzondere wensen apart</a:t>
            </a:r>
            <a:endParaRPr lang="en-US" sz="1250" dirty="0"/>
          </a:p>
        </p:txBody>
      </p:sp>
      <p:sp>
        <p:nvSpPr>
          <p:cNvPr id="18" name="Shape 11"/>
          <p:cNvSpPr/>
          <p:nvPr/>
        </p:nvSpPr>
        <p:spPr>
          <a:xfrm>
            <a:off x="4709160" y="2587752"/>
            <a:ext cx="329184" cy="329184"/>
          </a:xfrm>
          <a:prstGeom prst="ellipse">
            <a:avLst/>
          </a:prstGeom>
          <a:solidFill>
            <a:srgbClr val="E7F4ED"/>
          </a:solidFill>
          <a:ln w="12700">
            <a:solidFill>
              <a:srgbClr val="E7F4ED"/>
            </a:solidFill>
            <a:prstDash val="solid"/>
          </a:ln>
        </p:spPr>
      </p:sp>
      <p:pic>
        <p:nvPicPr>
          <p:cNvPr id="19" name="Image 5" descr="preencoded.png">    </p:cNvPr>
          <p:cNvPicPr>
            <a:picLocks noChangeAspect="1"/>
          </p:cNvPicPr>
          <p:nvPr/>
        </p:nvPicPr>
        <p:blipFill>
          <a:blip r:embed="rId6"/>
          <a:stretch>
            <a:fillRect/>
          </a:stretch>
        </p:blipFill>
        <p:spPr>
          <a:xfrm>
            <a:off x="4773168" y="2651760"/>
            <a:ext cx="201168" cy="201168"/>
          </a:xfrm>
          <a:prstGeom prst="rect">
            <a:avLst/>
          </a:prstGeom>
        </p:spPr>
      </p:pic>
      <p:sp>
        <p:nvSpPr>
          <p:cNvPr id="20" name="Text 12"/>
          <p:cNvSpPr txBox="1"/>
          <p:nvPr/>
        </p:nvSpPr>
        <p:spPr>
          <a:xfrm>
            <a:off x="5166360" y="2551176"/>
            <a:ext cx="3520440" cy="411480"/>
          </a:xfrm>
          <a:prstGeom prst="rect">
            <a:avLst/>
          </a:prstGeom>
          <a:noFill/>
          <a:ln/>
        </p:spPr>
        <p:txBody>
          <a:bodyPr wrap="square" lIns="0" tIns="0" rIns="0" bIns="0" rtlCol="0" anchor="ctr"/>
          <a:lstStyle/>
          <a:p>
            <a:pPr indent="0" marL="0">
              <a:buNone/>
            </a:pPr>
            <a:r>
              <a:rPr lang="en-US" sz="1250" dirty="0">
                <a:solidFill>
                  <a:srgbClr val="171310"/>
                </a:solidFill>
                <a:latin typeface="Calibri" pitchFamily="34" charset="0"/>
                <a:ea typeface="Calibri" pitchFamily="34" charset="-122"/>
                <a:cs typeface="Calibri" pitchFamily="34" charset="-120"/>
              </a:rPr>
              <a:t>Nieuwsberichten in drie talen, per locatie te richten</a:t>
            </a:r>
            <a:endParaRPr lang="en-US" sz="1250" dirty="0"/>
          </a:p>
        </p:txBody>
      </p:sp>
      <p:sp>
        <p:nvSpPr>
          <p:cNvPr id="21" name="Shape 13"/>
          <p:cNvSpPr/>
          <p:nvPr/>
        </p:nvSpPr>
        <p:spPr>
          <a:xfrm>
            <a:off x="457200" y="3246120"/>
            <a:ext cx="329184" cy="329184"/>
          </a:xfrm>
          <a:prstGeom prst="ellipse">
            <a:avLst/>
          </a:prstGeom>
          <a:solidFill>
            <a:srgbClr val="E7F4ED"/>
          </a:solidFill>
          <a:ln w="12700">
            <a:solidFill>
              <a:srgbClr val="E7F4ED"/>
            </a:solidFill>
            <a:prstDash val="solid"/>
          </a:ln>
        </p:spPr>
      </p:sp>
      <p:pic>
        <p:nvPicPr>
          <p:cNvPr id="22" name="Image 6" descr="preencoded.png">    </p:cNvPr>
          <p:cNvPicPr>
            <a:picLocks noChangeAspect="1"/>
          </p:cNvPicPr>
          <p:nvPr/>
        </p:nvPicPr>
        <p:blipFill>
          <a:blip r:embed="rId7"/>
          <a:stretch>
            <a:fillRect/>
          </a:stretch>
        </p:blipFill>
        <p:spPr>
          <a:xfrm>
            <a:off x="521208" y="3310128"/>
            <a:ext cx="201168" cy="201168"/>
          </a:xfrm>
          <a:prstGeom prst="rect">
            <a:avLst/>
          </a:prstGeom>
        </p:spPr>
      </p:pic>
      <p:sp>
        <p:nvSpPr>
          <p:cNvPr id="23" name="Text 14"/>
          <p:cNvSpPr txBox="1"/>
          <p:nvPr/>
        </p:nvSpPr>
        <p:spPr>
          <a:xfrm>
            <a:off x="914400" y="3209544"/>
            <a:ext cx="3520440" cy="411480"/>
          </a:xfrm>
          <a:prstGeom prst="rect">
            <a:avLst/>
          </a:prstGeom>
          <a:noFill/>
          <a:ln/>
        </p:spPr>
        <p:txBody>
          <a:bodyPr wrap="square" lIns="0" tIns="0" rIns="0" bIns="0" rtlCol="0" anchor="ctr"/>
          <a:lstStyle/>
          <a:p>
            <a:pPr indent="0" marL="0">
              <a:buNone/>
            </a:pPr>
            <a:r>
              <a:rPr lang="en-US" sz="1250" dirty="0">
                <a:solidFill>
                  <a:srgbClr val="171310"/>
                </a:solidFill>
                <a:latin typeface="Calibri" pitchFamily="34" charset="0"/>
                <a:ea typeface="Calibri" pitchFamily="34" charset="-122"/>
                <a:cs typeface="Calibri" pitchFamily="34" charset="-120"/>
              </a:rPr>
              <a:t>Alle acht uitdeellocaties met tijden, bellen en route</a:t>
            </a:r>
            <a:endParaRPr lang="en-US" sz="1250" dirty="0"/>
          </a:p>
        </p:txBody>
      </p:sp>
      <p:sp>
        <p:nvSpPr>
          <p:cNvPr id="24" name="Shape 15"/>
          <p:cNvSpPr/>
          <p:nvPr/>
        </p:nvSpPr>
        <p:spPr>
          <a:xfrm>
            <a:off x="4709160" y="3246120"/>
            <a:ext cx="329184" cy="329184"/>
          </a:xfrm>
          <a:prstGeom prst="ellipse">
            <a:avLst/>
          </a:prstGeom>
          <a:solidFill>
            <a:srgbClr val="E7F4ED"/>
          </a:solidFill>
          <a:ln w="12700">
            <a:solidFill>
              <a:srgbClr val="E7F4ED"/>
            </a:solidFill>
            <a:prstDash val="solid"/>
          </a:ln>
        </p:spPr>
      </p:sp>
      <p:pic>
        <p:nvPicPr>
          <p:cNvPr id="25" name="Image 7" descr="preencoded.png">    </p:cNvPr>
          <p:cNvPicPr>
            <a:picLocks noChangeAspect="1"/>
          </p:cNvPicPr>
          <p:nvPr/>
        </p:nvPicPr>
        <p:blipFill>
          <a:blip r:embed="rId8"/>
          <a:stretch>
            <a:fillRect/>
          </a:stretch>
        </p:blipFill>
        <p:spPr>
          <a:xfrm>
            <a:off x="4773168" y="3310128"/>
            <a:ext cx="201168" cy="201168"/>
          </a:xfrm>
          <a:prstGeom prst="rect">
            <a:avLst/>
          </a:prstGeom>
        </p:spPr>
      </p:pic>
      <p:sp>
        <p:nvSpPr>
          <p:cNvPr id="26" name="Text 16"/>
          <p:cNvSpPr txBox="1"/>
          <p:nvPr/>
        </p:nvSpPr>
        <p:spPr>
          <a:xfrm>
            <a:off x="5166360" y="3209544"/>
            <a:ext cx="3520440" cy="411480"/>
          </a:xfrm>
          <a:prstGeom prst="rect">
            <a:avLst/>
          </a:prstGeom>
          <a:noFill/>
          <a:ln/>
        </p:spPr>
        <p:txBody>
          <a:bodyPr wrap="square" lIns="0" tIns="0" rIns="0" bIns="0" rtlCol="0" anchor="ctr"/>
          <a:lstStyle/>
          <a:p>
            <a:pPr indent="0" marL="0">
              <a:buNone/>
            </a:pPr>
            <a:r>
              <a:rPr lang="en-US" sz="1250" dirty="0">
                <a:solidFill>
                  <a:srgbClr val="171310"/>
                </a:solidFill>
                <a:latin typeface="Calibri" pitchFamily="34" charset="0"/>
                <a:ea typeface="Calibri" pitchFamily="34" charset="-122"/>
                <a:cs typeface="Calibri" pitchFamily="34" charset="-120"/>
              </a:rPr>
              <a:t>Beveiligingsregels getest tegen de echte database</a:t>
            </a:r>
            <a:endParaRPr lang="en-US" sz="1250" dirty="0"/>
          </a:p>
        </p:txBody>
      </p:sp>
      <p:sp>
        <p:nvSpPr>
          <p:cNvPr id="27" name="Shape 17"/>
          <p:cNvSpPr/>
          <p:nvPr/>
        </p:nvSpPr>
        <p:spPr>
          <a:xfrm>
            <a:off x="457200" y="3931920"/>
            <a:ext cx="8229600" cy="685800"/>
          </a:xfrm>
          <a:prstGeom prst="roundRect">
            <a:avLst>
              <a:gd name="adj" fmla="val 16000"/>
            </a:avLst>
          </a:prstGeom>
          <a:solidFill>
            <a:srgbClr val="FFF1E6"/>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28" name="Text 18"/>
          <p:cNvSpPr txBox="1"/>
          <p:nvPr/>
        </p:nvSpPr>
        <p:spPr>
          <a:xfrm>
            <a:off x="685800" y="3931920"/>
            <a:ext cx="7772400" cy="685800"/>
          </a:xfrm>
          <a:prstGeom prst="rect">
            <a:avLst/>
          </a:prstGeom>
          <a:noFill/>
          <a:ln/>
        </p:spPr>
        <p:txBody>
          <a:bodyPr wrap="square" lIns="0" tIns="0" rIns="0" bIns="0" rtlCol="0" anchor="ctr"/>
          <a:lstStyle/>
          <a:p>
            <a:pPr indent="0" marL="0">
              <a:buNone/>
            </a:pPr>
            <a:r>
              <a:rPr lang="en-US" sz="1150" b="1" dirty="0">
                <a:solidFill>
                  <a:srgbClr val="C24E00"/>
                </a:solidFill>
                <a:latin typeface="Calibri" pitchFamily="34" charset="0"/>
                <a:ea typeface="Calibri" pitchFamily="34" charset="-122"/>
                <a:cs typeface="Calibri" pitchFamily="34" charset="-120"/>
              </a:rPr>
              <a:t>Getest op een echte iPhone.  </a:t>
            </a:r>
            <a:pPr indent="0" marL="0">
              <a:buNone/>
            </a:pPr>
            <a:r>
              <a:rPr lang="en-US" sz="1150" dirty="0">
                <a:solidFill>
                  <a:srgbClr val="C24E00"/>
                </a:solidFill>
                <a:latin typeface="Calibri" pitchFamily="34" charset="0"/>
                <a:ea typeface="Calibri" pitchFamily="34" charset="-122"/>
                <a:cs typeface="Calibri" pitchFamily="34" charset="-120"/>
              </a:rPr>
              <a:t>De app staat online, is geïnstalleerd op het beginscherm, en de complete keten — inloggen, aanmelden, pasnummer, rol — is doorlopen.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171310"/>
                </a:solidFill>
                <a:latin typeface="Arial" pitchFamily="34" charset="0"/>
                <a:ea typeface="Arial" pitchFamily="34" charset="-122"/>
                <a:cs typeface="Arial" pitchFamily="34" charset="-120"/>
              </a:rPr>
              <a:t>Wat nog nodig is vóór de eerste uitdeling</a:t>
            </a:r>
            <a:endParaRPr lang="en-US" sz="2800" dirty="0"/>
          </a:p>
        </p:txBody>
      </p:sp>
      <p:sp>
        <p:nvSpPr>
          <p:cNvPr id="3" name="Text 1"/>
          <p:cNvSpPr txBox="1"/>
          <p:nvPr/>
        </p:nvSpPr>
        <p:spPr>
          <a:xfrm>
            <a:off x="457200" y="1207008"/>
            <a:ext cx="320040" cy="292608"/>
          </a:xfrm>
          <a:prstGeom prst="rect">
            <a:avLst/>
          </a:prstGeom>
          <a:noFill/>
          <a:ln/>
        </p:spPr>
        <p:txBody>
          <a:bodyPr wrap="square" lIns="0" tIns="0" rIns="0" bIns="0" rtlCol="0" anchor="ctr"/>
          <a:lstStyle/>
          <a:p>
            <a:pPr indent="0" marL="0">
              <a:buNone/>
            </a:pPr>
            <a:r>
              <a:rPr lang="en-US" sz="1400" b="1" dirty="0">
                <a:solidFill>
                  <a:srgbClr val="FF7212"/>
                </a:solidFill>
                <a:latin typeface="Arial" pitchFamily="34" charset="0"/>
                <a:ea typeface="Arial" pitchFamily="34" charset="-122"/>
                <a:cs typeface="Arial" pitchFamily="34" charset="-120"/>
              </a:rPr>
              <a:t>1</a:t>
            </a:r>
            <a:endParaRPr lang="en-US" sz="1400" dirty="0"/>
          </a:p>
        </p:txBody>
      </p:sp>
      <p:sp>
        <p:nvSpPr>
          <p:cNvPr id="4" name="Shape 2"/>
          <p:cNvSpPr/>
          <p:nvPr/>
        </p:nvSpPr>
        <p:spPr>
          <a:xfrm>
            <a:off x="822960" y="1216152"/>
            <a:ext cx="1051560" cy="237744"/>
          </a:xfrm>
          <a:prstGeom prst="roundRect">
            <a:avLst>
              <a:gd name="adj" fmla="val 50000"/>
            </a:avLst>
          </a:prstGeom>
          <a:solidFill>
            <a:srgbClr val="FFF1E6"/>
          </a:solidFill>
          <a:ln w="12700">
            <a:solidFill>
              <a:srgbClr val="FFF1E6"/>
            </a:solidFill>
            <a:prstDash val="solid"/>
          </a:ln>
        </p:spPr>
      </p:sp>
      <p:sp>
        <p:nvSpPr>
          <p:cNvPr id="5" name="Text 3"/>
          <p:cNvSpPr txBox="1"/>
          <p:nvPr/>
        </p:nvSpPr>
        <p:spPr>
          <a:xfrm>
            <a:off x="822960" y="1216152"/>
            <a:ext cx="1051560" cy="237744"/>
          </a:xfrm>
          <a:prstGeom prst="rect">
            <a:avLst/>
          </a:prstGeom>
          <a:noFill/>
          <a:ln/>
        </p:spPr>
        <p:txBody>
          <a:bodyPr wrap="square" lIns="0" tIns="0" rIns="0" bIns="0" rtlCol="0" anchor="ctr"/>
          <a:lstStyle/>
          <a:p>
            <a:pPr algn="ctr" indent="0" marL="0">
              <a:buNone/>
            </a:pPr>
            <a:r>
              <a:rPr lang="en-US" sz="900" b="1" dirty="0">
                <a:solidFill>
                  <a:srgbClr val="C24E00"/>
                </a:solidFill>
                <a:latin typeface="Arial" pitchFamily="34" charset="0"/>
                <a:ea typeface="Arial" pitchFamily="34" charset="-122"/>
                <a:cs typeface="Arial" pitchFamily="34" charset="-120"/>
              </a:rPr>
              <a:t>Bestuur</a:t>
            </a:r>
            <a:endParaRPr lang="en-US" sz="900" dirty="0"/>
          </a:p>
        </p:txBody>
      </p:sp>
      <p:sp>
        <p:nvSpPr>
          <p:cNvPr id="6" name="Text 4"/>
          <p:cNvSpPr txBox="1"/>
          <p:nvPr/>
        </p:nvSpPr>
        <p:spPr>
          <a:xfrm>
            <a:off x="2011680" y="1188720"/>
            <a:ext cx="6675120" cy="310896"/>
          </a:xfrm>
          <a:prstGeom prst="rect">
            <a:avLst/>
          </a:prstGeom>
          <a:noFill/>
          <a:ln/>
        </p:spPr>
        <p:txBody>
          <a:bodyPr wrap="square" lIns="0" tIns="0" rIns="0" bIns="0" rtlCol="0" anchor="ctr"/>
          <a:lstStyle/>
          <a:p>
            <a:pPr indent="0" marL="0">
              <a:buNone/>
            </a:pPr>
            <a:r>
              <a:rPr lang="en-US" sz="1250" b="1" dirty="0">
                <a:solidFill>
                  <a:srgbClr val="171310"/>
                </a:solidFill>
                <a:latin typeface="Arial" pitchFamily="34" charset="0"/>
                <a:ea typeface="Arial" pitchFamily="34" charset="-122"/>
                <a:cs typeface="Arial" pitchFamily="34" charset="-120"/>
              </a:rPr>
              <a:t>Akkoord om door te gaan met een proef op één locatie</a:t>
            </a:r>
            <a:endParaRPr lang="en-US" sz="1250" dirty="0"/>
          </a:p>
        </p:txBody>
      </p:sp>
      <p:sp>
        <p:nvSpPr>
          <p:cNvPr id="7" name="Text 5"/>
          <p:cNvSpPr txBox="1"/>
          <p:nvPr/>
        </p:nvSpPr>
        <p:spPr>
          <a:xfrm>
            <a:off x="457200" y="1755648"/>
            <a:ext cx="320040" cy="292608"/>
          </a:xfrm>
          <a:prstGeom prst="rect">
            <a:avLst/>
          </a:prstGeom>
          <a:noFill/>
          <a:ln/>
        </p:spPr>
        <p:txBody>
          <a:bodyPr wrap="square" lIns="0" tIns="0" rIns="0" bIns="0" rtlCol="0" anchor="ctr"/>
          <a:lstStyle/>
          <a:p>
            <a:pPr indent="0" marL="0">
              <a:buNone/>
            </a:pPr>
            <a:r>
              <a:rPr lang="en-US" sz="1400" b="1" dirty="0">
                <a:solidFill>
                  <a:srgbClr val="FF7212"/>
                </a:solidFill>
                <a:latin typeface="Arial" pitchFamily="34" charset="0"/>
                <a:ea typeface="Arial" pitchFamily="34" charset="-122"/>
                <a:cs typeface="Arial" pitchFamily="34" charset="-120"/>
              </a:rPr>
              <a:t>2</a:t>
            </a:r>
            <a:endParaRPr lang="en-US" sz="1400" dirty="0"/>
          </a:p>
        </p:txBody>
      </p:sp>
      <p:sp>
        <p:nvSpPr>
          <p:cNvPr id="8" name="Shape 6"/>
          <p:cNvSpPr/>
          <p:nvPr/>
        </p:nvSpPr>
        <p:spPr>
          <a:xfrm>
            <a:off x="822960" y="1764792"/>
            <a:ext cx="1051560" cy="237744"/>
          </a:xfrm>
          <a:prstGeom prst="roundRect">
            <a:avLst>
              <a:gd name="adj" fmla="val 50000"/>
            </a:avLst>
          </a:prstGeom>
          <a:solidFill>
            <a:srgbClr val="FDECEA"/>
          </a:solidFill>
          <a:ln w="12700">
            <a:solidFill>
              <a:srgbClr val="FDECEA"/>
            </a:solidFill>
            <a:prstDash val="solid"/>
          </a:ln>
        </p:spPr>
      </p:sp>
      <p:sp>
        <p:nvSpPr>
          <p:cNvPr id="9" name="Text 7"/>
          <p:cNvSpPr txBox="1"/>
          <p:nvPr/>
        </p:nvSpPr>
        <p:spPr>
          <a:xfrm>
            <a:off x="822960" y="1764792"/>
            <a:ext cx="1051560" cy="237744"/>
          </a:xfrm>
          <a:prstGeom prst="rect">
            <a:avLst/>
          </a:prstGeom>
          <a:noFill/>
          <a:ln/>
        </p:spPr>
        <p:txBody>
          <a:bodyPr wrap="square" lIns="0" tIns="0" rIns="0" bIns="0" rtlCol="0" anchor="ctr"/>
          <a:lstStyle/>
          <a:p>
            <a:pPr algn="ctr" indent="0" marL="0">
              <a:buNone/>
            </a:pPr>
            <a:r>
              <a:rPr lang="en-US" sz="900" b="1" dirty="0">
                <a:solidFill>
                  <a:srgbClr val="B3261E"/>
                </a:solidFill>
                <a:latin typeface="Arial" pitchFamily="34" charset="0"/>
                <a:ea typeface="Arial" pitchFamily="34" charset="-122"/>
                <a:cs typeface="Arial" pitchFamily="34" charset="-120"/>
              </a:rPr>
              <a:t>Domeinbeheer</a:t>
            </a:r>
            <a:endParaRPr lang="en-US" sz="900" dirty="0"/>
          </a:p>
        </p:txBody>
      </p:sp>
      <p:sp>
        <p:nvSpPr>
          <p:cNvPr id="10" name="Text 8"/>
          <p:cNvSpPr txBox="1"/>
          <p:nvPr/>
        </p:nvSpPr>
        <p:spPr>
          <a:xfrm>
            <a:off x="2011680" y="1737360"/>
            <a:ext cx="6675120" cy="310896"/>
          </a:xfrm>
          <a:prstGeom prst="rect">
            <a:avLst/>
          </a:prstGeom>
          <a:noFill/>
          <a:ln/>
        </p:spPr>
        <p:txBody>
          <a:bodyPr wrap="square" lIns="0" tIns="0" rIns="0" bIns="0" rtlCol="0" anchor="ctr"/>
          <a:lstStyle/>
          <a:p>
            <a:pPr indent="0" marL="0">
              <a:buNone/>
            </a:pPr>
            <a:r>
              <a:rPr lang="en-US" sz="1250" b="1" dirty="0">
                <a:solidFill>
                  <a:srgbClr val="171310"/>
                </a:solidFill>
                <a:latin typeface="Arial" pitchFamily="34" charset="0"/>
                <a:ea typeface="Arial" pitchFamily="34" charset="-122"/>
                <a:cs typeface="Arial" pitchFamily="34" charset="-120"/>
              </a:rPr>
              <a:t>Het domein voedselbankhaarlemmermeer.nl koppelen aan de mailservice</a:t>
            </a:r>
            <a:endParaRPr lang="en-US" sz="1250" dirty="0"/>
          </a:p>
        </p:txBody>
      </p:sp>
      <p:sp>
        <p:nvSpPr>
          <p:cNvPr id="11" name="Text 9"/>
          <p:cNvSpPr txBox="1"/>
          <p:nvPr/>
        </p:nvSpPr>
        <p:spPr>
          <a:xfrm>
            <a:off x="2011680" y="2048256"/>
            <a:ext cx="6675120" cy="384048"/>
          </a:xfrm>
          <a:prstGeom prst="rect">
            <a:avLst/>
          </a:prstGeom>
          <a:noFill/>
          <a:ln/>
        </p:spPr>
        <p:txBody>
          <a:bodyPr wrap="square" lIns="0" tIns="0" rIns="0" bIns="0" rtlCol="0" anchor="t"/>
          <a:lstStyle/>
          <a:p>
            <a:pPr indent="0" marL="0">
              <a:buNone/>
            </a:pPr>
            <a:r>
              <a:rPr lang="en-US" sz="1050" dirty="0">
                <a:solidFill>
                  <a:srgbClr val="6E655C"/>
                </a:solidFill>
                <a:latin typeface="Calibri" pitchFamily="34" charset="0"/>
                <a:ea typeface="Calibri" pitchFamily="34" charset="-122"/>
                <a:cs typeface="Calibri" pitchFamily="34" charset="-120"/>
              </a:rPr>
              <a:t>Zonder dit belanden inlogcodes in de spammap. Drie DNS-records, tien minuten werk voor wie het domein beheert — maar wel de laatste echte blokkade.</a:t>
            </a:r>
            <a:endParaRPr lang="en-US" sz="1050" dirty="0"/>
          </a:p>
        </p:txBody>
      </p:sp>
      <p:sp>
        <p:nvSpPr>
          <p:cNvPr id="12" name="Text 10"/>
          <p:cNvSpPr txBox="1"/>
          <p:nvPr/>
        </p:nvSpPr>
        <p:spPr>
          <a:xfrm>
            <a:off x="457200" y="2523744"/>
            <a:ext cx="320040" cy="292608"/>
          </a:xfrm>
          <a:prstGeom prst="rect">
            <a:avLst/>
          </a:prstGeom>
          <a:noFill/>
          <a:ln/>
        </p:spPr>
        <p:txBody>
          <a:bodyPr wrap="square" lIns="0" tIns="0" rIns="0" bIns="0" rtlCol="0" anchor="ctr"/>
          <a:lstStyle/>
          <a:p>
            <a:pPr indent="0" marL="0">
              <a:buNone/>
            </a:pPr>
            <a:r>
              <a:rPr lang="en-US" sz="1400" b="1" dirty="0">
                <a:solidFill>
                  <a:srgbClr val="FF7212"/>
                </a:solidFill>
                <a:latin typeface="Arial" pitchFamily="34" charset="0"/>
                <a:ea typeface="Arial" pitchFamily="34" charset="-122"/>
                <a:cs typeface="Arial" pitchFamily="34" charset="-120"/>
              </a:rPr>
              <a:t>3</a:t>
            </a:r>
            <a:endParaRPr lang="en-US" sz="1400" dirty="0"/>
          </a:p>
        </p:txBody>
      </p:sp>
      <p:sp>
        <p:nvSpPr>
          <p:cNvPr id="13" name="Shape 11"/>
          <p:cNvSpPr/>
          <p:nvPr/>
        </p:nvSpPr>
        <p:spPr>
          <a:xfrm>
            <a:off x="822960" y="2532888"/>
            <a:ext cx="1051560" cy="237744"/>
          </a:xfrm>
          <a:prstGeom prst="roundRect">
            <a:avLst>
              <a:gd name="adj" fmla="val 50000"/>
            </a:avLst>
          </a:prstGeom>
          <a:solidFill>
            <a:srgbClr val="FFF1E6"/>
          </a:solidFill>
          <a:ln w="12700">
            <a:solidFill>
              <a:srgbClr val="FFF1E6"/>
            </a:solidFill>
            <a:prstDash val="solid"/>
          </a:ln>
        </p:spPr>
      </p:sp>
      <p:sp>
        <p:nvSpPr>
          <p:cNvPr id="14" name="Text 12"/>
          <p:cNvSpPr txBox="1"/>
          <p:nvPr/>
        </p:nvSpPr>
        <p:spPr>
          <a:xfrm>
            <a:off x="822960" y="2532888"/>
            <a:ext cx="1051560" cy="237744"/>
          </a:xfrm>
          <a:prstGeom prst="rect">
            <a:avLst/>
          </a:prstGeom>
          <a:noFill/>
          <a:ln/>
        </p:spPr>
        <p:txBody>
          <a:bodyPr wrap="square" lIns="0" tIns="0" rIns="0" bIns="0" rtlCol="0" anchor="ctr"/>
          <a:lstStyle/>
          <a:p>
            <a:pPr algn="ctr" indent="0" marL="0">
              <a:buNone/>
            </a:pPr>
            <a:r>
              <a:rPr lang="en-US" sz="900" b="1" dirty="0">
                <a:solidFill>
                  <a:srgbClr val="C24E00"/>
                </a:solidFill>
                <a:latin typeface="Arial" pitchFamily="34" charset="0"/>
                <a:ea typeface="Arial" pitchFamily="34" charset="-122"/>
                <a:cs typeface="Arial" pitchFamily="34" charset="-120"/>
              </a:rPr>
              <a:t>Bestuur</a:t>
            </a:r>
            <a:endParaRPr lang="en-US" sz="900" dirty="0"/>
          </a:p>
        </p:txBody>
      </p:sp>
      <p:sp>
        <p:nvSpPr>
          <p:cNvPr id="15" name="Text 13"/>
          <p:cNvSpPr txBox="1"/>
          <p:nvPr/>
        </p:nvSpPr>
        <p:spPr>
          <a:xfrm>
            <a:off x="2011680" y="2505456"/>
            <a:ext cx="6675120" cy="310896"/>
          </a:xfrm>
          <a:prstGeom prst="rect">
            <a:avLst/>
          </a:prstGeom>
          <a:noFill/>
          <a:ln/>
        </p:spPr>
        <p:txBody>
          <a:bodyPr wrap="square" lIns="0" tIns="0" rIns="0" bIns="0" rtlCol="0" anchor="ctr"/>
          <a:lstStyle/>
          <a:p>
            <a:pPr indent="0" marL="0">
              <a:buNone/>
            </a:pPr>
            <a:r>
              <a:rPr lang="en-US" sz="1250" b="1" dirty="0">
                <a:solidFill>
                  <a:srgbClr val="171310"/>
                </a:solidFill>
                <a:latin typeface="Arial" pitchFamily="34" charset="0"/>
                <a:ea typeface="Arial" pitchFamily="34" charset="-122"/>
                <a:cs typeface="Arial" pitchFamily="34" charset="-120"/>
              </a:rPr>
              <a:t>Verwerkersovereenkomst met Supabase tekenen</a:t>
            </a:r>
            <a:endParaRPr lang="en-US" sz="1250" dirty="0"/>
          </a:p>
        </p:txBody>
      </p:sp>
      <p:sp>
        <p:nvSpPr>
          <p:cNvPr id="16" name="Text 14"/>
          <p:cNvSpPr txBox="1"/>
          <p:nvPr/>
        </p:nvSpPr>
        <p:spPr>
          <a:xfrm>
            <a:off x="2011680" y="2816352"/>
            <a:ext cx="6675120" cy="384048"/>
          </a:xfrm>
          <a:prstGeom prst="rect">
            <a:avLst/>
          </a:prstGeom>
          <a:noFill/>
          <a:ln/>
        </p:spPr>
        <p:txBody>
          <a:bodyPr wrap="square" lIns="0" tIns="0" rIns="0" bIns="0" rtlCol="0" anchor="t"/>
          <a:lstStyle/>
          <a:p>
            <a:pPr indent="0" marL="0">
              <a:buNone/>
            </a:pPr>
            <a:r>
              <a:rPr lang="en-US" sz="1050" dirty="0">
                <a:solidFill>
                  <a:srgbClr val="6E655C"/>
                </a:solidFill>
                <a:latin typeface="Calibri" pitchFamily="34" charset="0"/>
                <a:ea typeface="Calibri" pitchFamily="34" charset="-122"/>
                <a:cs typeface="Calibri" pitchFamily="34" charset="-120"/>
              </a:rPr>
              <a:t>Staat kant-en-klaar in hun dashboard. Nodig omdat we gezondheidsgegevens laten opslaan.</a:t>
            </a:r>
            <a:endParaRPr lang="en-US" sz="1050" dirty="0"/>
          </a:p>
        </p:txBody>
      </p:sp>
      <p:sp>
        <p:nvSpPr>
          <p:cNvPr id="17" name="Text 15"/>
          <p:cNvSpPr txBox="1"/>
          <p:nvPr/>
        </p:nvSpPr>
        <p:spPr>
          <a:xfrm>
            <a:off x="457200" y="3291840"/>
            <a:ext cx="320040" cy="292608"/>
          </a:xfrm>
          <a:prstGeom prst="rect">
            <a:avLst/>
          </a:prstGeom>
          <a:noFill/>
          <a:ln/>
        </p:spPr>
        <p:txBody>
          <a:bodyPr wrap="square" lIns="0" tIns="0" rIns="0" bIns="0" rtlCol="0" anchor="ctr"/>
          <a:lstStyle/>
          <a:p>
            <a:pPr indent="0" marL="0">
              <a:buNone/>
            </a:pPr>
            <a:r>
              <a:rPr lang="en-US" sz="1400" b="1" dirty="0">
                <a:solidFill>
                  <a:srgbClr val="FF7212"/>
                </a:solidFill>
                <a:latin typeface="Arial" pitchFamily="34" charset="0"/>
                <a:ea typeface="Arial" pitchFamily="34" charset="-122"/>
                <a:cs typeface="Arial" pitchFamily="34" charset="-120"/>
              </a:rPr>
              <a:t>4</a:t>
            </a:r>
            <a:endParaRPr lang="en-US" sz="1400" dirty="0"/>
          </a:p>
        </p:txBody>
      </p:sp>
      <p:sp>
        <p:nvSpPr>
          <p:cNvPr id="18" name="Shape 16"/>
          <p:cNvSpPr/>
          <p:nvPr/>
        </p:nvSpPr>
        <p:spPr>
          <a:xfrm>
            <a:off x="822960" y="3300984"/>
            <a:ext cx="1051560" cy="237744"/>
          </a:xfrm>
          <a:prstGeom prst="roundRect">
            <a:avLst>
              <a:gd name="adj" fmla="val 50000"/>
            </a:avLst>
          </a:prstGeom>
          <a:solidFill>
            <a:srgbClr val="FFF1E6"/>
          </a:solidFill>
          <a:ln w="12700">
            <a:solidFill>
              <a:srgbClr val="FFF1E6"/>
            </a:solidFill>
            <a:prstDash val="solid"/>
          </a:ln>
        </p:spPr>
      </p:sp>
      <p:sp>
        <p:nvSpPr>
          <p:cNvPr id="19" name="Text 17"/>
          <p:cNvSpPr txBox="1"/>
          <p:nvPr/>
        </p:nvSpPr>
        <p:spPr>
          <a:xfrm>
            <a:off x="822960" y="3300984"/>
            <a:ext cx="1051560" cy="237744"/>
          </a:xfrm>
          <a:prstGeom prst="rect">
            <a:avLst/>
          </a:prstGeom>
          <a:noFill/>
          <a:ln/>
        </p:spPr>
        <p:txBody>
          <a:bodyPr wrap="square" lIns="0" tIns="0" rIns="0" bIns="0" rtlCol="0" anchor="ctr"/>
          <a:lstStyle/>
          <a:p>
            <a:pPr algn="ctr" indent="0" marL="0">
              <a:buNone/>
            </a:pPr>
            <a:r>
              <a:rPr lang="en-US" sz="900" b="1" dirty="0">
                <a:solidFill>
                  <a:srgbClr val="C24E00"/>
                </a:solidFill>
                <a:latin typeface="Arial" pitchFamily="34" charset="0"/>
                <a:ea typeface="Arial" pitchFamily="34" charset="-122"/>
                <a:cs typeface="Arial" pitchFamily="34" charset="-120"/>
              </a:rPr>
              <a:t>Bestuur</a:t>
            </a:r>
            <a:endParaRPr lang="en-US" sz="900" dirty="0"/>
          </a:p>
        </p:txBody>
      </p:sp>
      <p:sp>
        <p:nvSpPr>
          <p:cNvPr id="20" name="Text 18"/>
          <p:cNvSpPr txBox="1"/>
          <p:nvPr/>
        </p:nvSpPr>
        <p:spPr>
          <a:xfrm>
            <a:off x="2011680" y="3273552"/>
            <a:ext cx="6675120" cy="310896"/>
          </a:xfrm>
          <a:prstGeom prst="rect">
            <a:avLst/>
          </a:prstGeom>
          <a:noFill/>
          <a:ln/>
        </p:spPr>
        <p:txBody>
          <a:bodyPr wrap="square" lIns="0" tIns="0" rIns="0" bIns="0" rtlCol="0" anchor="ctr"/>
          <a:lstStyle/>
          <a:p>
            <a:pPr indent="0" marL="0">
              <a:buNone/>
            </a:pPr>
            <a:r>
              <a:rPr lang="en-US" sz="1250" b="1" dirty="0">
                <a:solidFill>
                  <a:srgbClr val="171310"/>
                </a:solidFill>
                <a:latin typeface="Arial" pitchFamily="34" charset="0"/>
                <a:ea typeface="Arial" pitchFamily="34" charset="-122"/>
                <a:cs typeface="Arial" pitchFamily="34" charset="-120"/>
              </a:rPr>
              <a:t>Privacyverklaring aanvullen en een bewaartermijn afspreken</a:t>
            </a:r>
            <a:endParaRPr lang="en-US" sz="1250" dirty="0"/>
          </a:p>
        </p:txBody>
      </p:sp>
      <p:sp>
        <p:nvSpPr>
          <p:cNvPr id="21" name="Text 19"/>
          <p:cNvSpPr txBox="1"/>
          <p:nvPr/>
        </p:nvSpPr>
        <p:spPr>
          <a:xfrm>
            <a:off x="457200" y="3840480"/>
            <a:ext cx="320040" cy="292608"/>
          </a:xfrm>
          <a:prstGeom prst="rect">
            <a:avLst/>
          </a:prstGeom>
          <a:noFill/>
          <a:ln/>
        </p:spPr>
        <p:txBody>
          <a:bodyPr wrap="square" lIns="0" tIns="0" rIns="0" bIns="0" rtlCol="0" anchor="ctr"/>
          <a:lstStyle/>
          <a:p>
            <a:pPr indent="0" marL="0">
              <a:buNone/>
            </a:pPr>
            <a:r>
              <a:rPr lang="en-US" sz="1400" b="1" dirty="0">
                <a:solidFill>
                  <a:srgbClr val="FF7212"/>
                </a:solidFill>
                <a:latin typeface="Arial" pitchFamily="34" charset="0"/>
                <a:ea typeface="Arial" pitchFamily="34" charset="-122"/>
                <a:cs typeface="Arial" pitchFamily="34" charset="-120"/>
              </a:rPr>
              <a:t>5</a:t>
            </a:r>
            <a:endParaRPr lang="en-US" sz="1400" dirty="0"/>
          </a:p>
        </p:txBody>
      </p:sp>
      <p:sp>
        <p:nvSpPr>
          <p:cNvPr id="22" name="Shape 20"/>
          <p:cNvSpPr/>
          <p:nvPr/>
        </p:nvSpPr>
        <p:spPr>
          <a:xfrm>
            <a:off x="822960" y="3849624"/>
            <a:ext cx="1051560" cy="237744"/>
          </a:xfrm>
          <a:prstGeom prst="roundRect">
            <a:avLst>
              <a:gd name="adj" fmla="val 50000"/>
            </a:avLst>
          </a:prstGeom>
          <a:solidFill>
            <a:srgbClr val="EFEDEA"/>
          </a:solidFill>
          <a:ln w="12700">
            <a:solidFill>
              <a:srgbClr val="EFEDEA"/>
            </a:solidFill>
            <a:prstDash val="solid"/>
          </a:ln>
        </p:spPr>
      </p:sp>
      <p:sp>
        <p:nvSpPr>
          <p:cNvPr id="23" name="Text 21"/>
          <p:cNvSpPr txBox="1"/>
          <p:nvPr/>
        </p:nvSpPr>
        <p:spPr>
          <a:xfrm>
            <a:off x="822960" y="3849624"/>
            <a:ext cx="1051560" cy="237744"/>
          </a:xfrm>
          <a:prstGeom prst="rect">
            <a:avLst/>
          </a:prstGeom>
          <a:noFill/>
          <a:ln/>
        </p:spPr>
        <p:txBody>
          <a:bodyPr wrap="square" lIns="0" tIns="0" rIns="0" bIns="0" rtlCol="0" anchor="ctr"/>
          <a:lstStyle/>
          <a:p>
            <a:pPr algn="ctr" indent="0" marL="0">
              <a:buNone/>
            </a:pPr>
            <a:r>
              <a:rPr lang="en-US" sz="900" b="1" dirty="0">
                <a:solidFill>
                  <a:srgbClr val="6E655C"/>
                </a:solidFill>
                <a:latin typeface="Arial" pitchFamily="34" charset="0"/>
                <a:ea typeface="Arial" pitchFamily="34" charset="-122"/>
                <a:cs typeface="Arial" pitchFamily="34" charset="-120"/>
              </a:rPr>
              <a:t>Techniek</a:t>
            </a:r>
            <a:endParaRPr lang="en-US" sz="900" dirty="0"/>
          </a:p>
        </p:txBody>
      </p:sp>
      <p:sp>
        <p:nvSpPr>
          <p:cNvPr id="24" name="Text 22"/>
          <p:cNvSpPr txBox="1"/>
          <p:nvPr/>
        </p:nvSpPr>
        <p:spPr>
          <a:xfrm>
            <a:off x="2011680" y="3822192"/>
            <a:ext cx="6675120" cy="310896"/>
          </a:xfrm>
          <a:prstGeom prst="rect">
            <a:avLst/>
          </a:prstGeom>
          <a:noFill/>
          <a:ln/>
        </p:spPr>
        <p:txBody>
          <a:bodyPr wrap="square" lIns="0" tIns="0" rIns="0" bIns="0" rtlCol="0" anchor="ctr"/>
          <a:lstStyle/>
          <a:p>
            <a:pPr indent="0" marL="0">
              <a:buNone/>
            </a:pPr>
            <a:r>
              <a:rPr lang="en-US" sz="1250" b="1" dirty="0">
                <a:solidFill>
                  <a:srgbClr val="171310"/>
                </a:solidFill>
                <a:latin typeface="Arial" pitchFamily="34" charset="0"/>
                <a:ea typeface="Arial" pitchFamily="34" charset="-122"/>
                <a:cs typeface="Arial" pitchFamily="34" charset="-120"/>
              </a:rPr>
              <a:t>Pushmeldingen één keer echt testen; broncode naar GitHub als back-up</a:t>
            </a:r>
            <a:endParaRPr lang="en-US" sz="1250" dirty="0"/>
          </a:p>
        </p:txBody>
      </p:sp>
      <p:sp>
        <p:nvSpPr>
          <p:cNvPr id="25" name="Text 23"/>
          <p:cNvSpPr txBox="1"/>
          <p:nvPr/>
        </p:nvSpPr>
        <p:spPr>
          <a:xfrm>
            <a:off x="457200" y="4389120"/>
            <a:ext cx="320040" cy="292608"/>
          </a:xfrm>
          <a:prstGeom prst="rect">
            <a:avLst/>
          </a:prstGeom>
          <a:noFill/>
          <a:ln/>
        </p:spPr>
        <p:txBody>
          <a:bodyPr wrap="square" lIns="0" tIns="0" rIns="0" bIns="0" rtlCol="0" anchor="ctr"/>
          <a:lstStyle/>
          <a:p>
            <a:pPr indent="0" marL="0">
              <a:buNone/>
            </a:pPr>
            <a:r>
              <a:rPr lang="en-US" sz="1400" b="1" dirty="0">
                <a:solidFill>
                  <a:srgbClr val="FF7212"/>
                </a:solidFill>
                <a:latin typeface="Arial" pitchFamily="34" charset="0"/>
                <a:ea typeface="Arial" pitchFamily="34" charset="-122"/>
                <a:cs typeface="Arial" pitchFamily="34" charset="-120"/>
              </a:rPr>
              <a:t>6</a:t>
            </a:r>
            <a:endParaRPr lang="en-US" sz="1400" dirty="0"/>
          </a:p>
        </p:txBody>
      </p:sp>
      <p:sp>
        <p:nvSpPr>
          <p:cNvPr id="26" name="Shape 24"/>
          <p:cNvSpPr/>
          <p:nvPr/>
        </p:nvSpPr>
        <p:spPr>
          <a:xfrm>
            <a:off x="822960" y="4398264"/>
            <a:ext cx="1051560" cy="237744"/>
          </a:xfrm>
          <a:prstGeom prst="roundRect">
            <a:avLst>
              <a:gd name="adj" fmla="val 50000"/>
            </a:avLst>
          </a:prstGeom>
          <a:solidFill>
            <a:srgbClr val="EFEDEA"/>
          </a:solidFill>
          <a:ln w="12700">
            <a:solidFill>
              <a:srgbClr val="EFEDEA"/>
            </a:solidFill>
            <a:prstDash val="solid"/>
          </a:ln>
        </p:spPr>
      </p:sp>
      <p:sp>
        <p:nvSpPr>
          <p:cNvPr id="27" name="Text 25"/>
          <p:cNvSpPr txBox="1"/>
          <p:nvPr/>
        </p:nvSpPr>
        <p:spPr>
          <a:xfrm>
            <a:off x="822960" y="4398264"/>
            <a:ext cx="1051560" cy="237744"/>
          </a:xfrm>
          <a:prstGeom prst="rect">
            <a:avLst/>
          </a:prstGeom>
          <a:noFill/>
          <a:ln/>
        </p:spPr>
        <p:txBody>
          <a:bodyPr wrap="square" lIns="0" tIns="0" rIns="0" bIns="0" rtlCol="0" anchor="ctr"/>
          <a:lstStyle/>
          <a:p>
            <a:pPr algn="ctr" indent="0" marL="0">
              <a:buNone/>
            </a:pPr>
            <a:r>
              <a:rPr lang="en-US" sz="900" b="1" dirty="0">
                <a:solidFill>
                  <a:srgbClr val="6E655C"/>
                </a:solidFill>
                <a:latin typeface="Arial" pitchFamily="34" charset="0"/>
                <a:ea typeface="Arial" pitchFamily="34" charset="-122"/>
                <a:cs typeface="Arial" pitchFamily="34" charset="-120"/>
              </a:rPr>
              <a:t>Vrijwilligers</a:t>
            </a:r>
            <a:endParaRPr lang="en-US" sz="900" dirty="0"/>
          </a:p>
        </p:txBody>
      </p:sp>
      <p:sp>
        <p:nvSpPr>
          <p:cNvPr id="28" name="Text 26"/>
          <p:cNvSpPr txBox="1"/>
          <p:nvPr/>
        </p:nvSpPr>
        <p:spPr>
          <a:xfrm>
            <a:off x="2011680" y="4370832"/>
            <a:ext cx="6675120" cy="310896"/>
          </a:xfrm>
          <a:prstGeom prst="rect">
            <a:avLst/>
          </a:prstGeom>
          <a:noFill/>
          <a:ln/>
        </p:spPr>
        <p:txBody>
          <a:bodyPr wrap="square" lIns="0" tIns="0" rIns="0" bIns="0" rtlCol="0" anchor="ctr"/>
          <a:lstStyle/>
          <a:p>
            <a:pPr indent="0" marL="0">
              <a:buNone/>
            </a:pPr>
            <a:r>
              <a:rPr lang="en-US" sz="1250" b="1" dirty="0">
                <a:solidFill>
                  <a:srgbClr val="171310"/>
                </a:solidFill>
                <a:latin typeface="Arial" pitchFamily="34" charset="0"/>
                <a:ea typeface="Arial" pitchFamily="34" charset="-122"/>
                <a:cs typeface="Arial" pitchFamily="34" charset="-120"/>
              </a:rPr>
              <a:t>Twee of drie vrijwilligers instrueren en proefdraaien met echte klanten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171310"/>
                </a:solidFill>
                <a:latin typeface="Arial" pitchFamily="34" charset="0"/>
                <a:ea typeface="Arial" pitchFamily="34" charset="-122"/>
                <a:cs typeface="Arial" pitchFamily="34" charset="-120"/>
              </a:rPr>
              <a:t>Wat het kost</a:t>
            </a:r>
            <a:endParaRPr lang="en-US" sz="2800" dirty="0"/>
          </a:p>
        </p:txBody>
      </p:sp>
      <p:sp>
        <p:nvSpPr>
          <p:cNvPr id="3" name="Text 1"/>
          <p:cNvSpPr txBox="1"/>
          <p:nvPr/>
        </p:nvSpPr>
        <p:spPr>
          <a:xfrm>
            <a:off x="457200" y="1143000"/>
            <a:ext cx="2743200" cy="1097280"/>
          </a:xfrm>
          <a:prstGeom prst="rect">
            <a:avLst/>
          </a:prstGeom>
          <a:noFill/>
          <a:ln/>
        </p:spPr>
        <p:txBody>
          <a:bodyPr wrap="square" lIns="0" tIns="0" rIns="0" bIns="0" rtlCol="0" anchor="ctr"/>
          <a:lstStyle/>
          <a:p>
            <a:pPr indent="0" marL="0">
              <a:buNone/>
            </a:pPr>
            <a:r>
              <a:rPr lang="en-US" sz="7200" b="1" dirty="0">
                <a:solidFill>
                  <a:srgbClr val="FF7212"/>
                </a:solidFill>
                <a:latin typeface="Arial" pitchFamily="34" charset="0"/>
                <a:ea typeface="Arial" pitchFamily="34" charset="-122"/>
                <a:cs typeface="Arial" pitchFamily="34" charset="-120"/>
              </a:rPr>
              <a:t>€ 0</a:t>
            </a:r>
            <a:endParaRPr lang="en-US" sz="7200" dirty="0"/>
          </a:p>
        </p:txBody>
      </p:sp>
      <p:sp>
        <p:nvSpPr>
          <p:cNvPr id="4" name="Text 2"/>
          <p:cNvSpPr txBox="1"/>
          <p:nvPr/>
        </p:nvSpPr>
        <p:spPr>
          <a:xfrm>
            <a:off x="457200" y="2240280"/>
            <a:ext cx="2743200" cy="320040"/>
          </a:xfrm>
          <a:prstGeom prst="rect">
            <a:avLst/>
          </a:prstGeom>
          <a:noFill/>
          <a:ln/>
        </p:spPr>
        <p:txBody>
          <a:bodyPr wrap="square" lIns="0" tIns="0" rIns="0" bIns="0" rtlCol="0" anchor="ctr"/>
          <a:lstStyle/>
          <a:p>
            <a:pPr indent="0" marL="0">
              <a:buNone/>
            </a:pPr>
            <a:r>
              <a:rPr lang="en-US" sz="1300" dirty="0">
                <a:solidFill>
                  <a:srgbClr val="6E655C"/>
                </a:solidFill>
                <a:latin typeface="Calibri" pitchFamily="34" charset="0"/>
                <a:ea typeface="Calibri" pitchFamily="34" charset="-122"/>
                <a:cs typeface="Calibri" pitchFamily="34" charset="-120"/>
              </a:rPr>
              <a:t>per maand, in de huidige omvang</a:t>
            </a:r>
            <a:endParaRPr lang="en-US" sz="1300" dirty="0"/>
          </a:p>
        </p:txBody>
      </p:sp>
      <p:sp>
        <p:nvSpPr>
          <p:cNvPr id="5" name="Text 3"/>
          <p:cNvSpPr txBox="1"/>
          <p:nvPr/>
        </p:nvSpPr>
        <p:spPr>
          <a:xfrm>
            <a:off x="457200" y="2651760"/>
            <a:ext cx="2834640" cy="1188720"/>
          </a:xfrm>
          <a:prstGeom prst="rect">
            <a:avLst/>
          </a:prstGeom>
          <a:noFill/>
          <a:ln/>
        </p:spPr>
        <p:txBody>
          <a:bodyPr wrap="square" lIns="0" tIns="0" rIns="0" bIns="0" rtlCol="0" anchor="t"/>
          <a:lstStyle/>
          <a:p>
            <a:pPr indent="0" marL="0">
              <a:buNone/>
            </a:pPr>
            <a:r>
              <a:rPr lang="en-US" sz="1150" dirty="0">
                <a:solidFill>
                  <a:srgbClr val="6E655C"/>
                </a:solidFill>
                <a:latin typeface="Calibri" pitchFamily="34" charset="0"/>
                <a:ea typeface="Calibri" pitchFamily="34" charset="-122"/>
                <a:cs typeface="Calibri" pitchFamily="34" charset="-120"/>
              </a:rPr>
              <a:t>Alle vier de diensten hebben een gratis laag die ruim voldoende is voor de Voedselbank. Er is niets gekocht en niets geabonneerd.</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566160" y="1188720"/>
          <a:ext cx="5120640" cy="914400"/>
        </p:xfrm>
        <a:graphic>
          <a:graphicData uri="http://schemas.openxmlformats.org/drawingml/2006/table">
            <a:tbl>
              <a:tblPr/>
              <a:tblGrid>
                <a:gridCol w="1417320"/>
                <a:gridCol w="1325880"/>
                <a:gridCol w="2377440"/>
              </a:tblGrid>
              <a:tr h="320040">
                <a:tc>
                  <a:txBody>
                    <a:bodyPr/>
                    <a:lstStyle/>
                    <a:p>
                      <a:pPr indent="0" marL="0">
                        <a:buNone/>
                      </a:pPr>
                      <a:r>
                        <a:rPr lang="en-US" sz="1000" b="1" dirty="0">
                          <a:solidFill>
                            <a:srgbClr val="171310"/>
                          </a:solidFill>
                          <a:latin typeface="Calibri" pitchFamily="34" charset="0"/>
                          <a:ea typeface="Calibri" pitchFamily="34" charset="-122"/>
                          <a:cs typeface="Calibri" pitchFamily="34" charset="-120"/>
                        </a:rPr>
                        <a:t>Dienst</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b="1" dirty="0">
                          <a:solidFill>
                            <a:srgbClr val="171310"/>
                          </a:solidFill>
                          <a:latin typeface="Calibri" pitchFamily="34" charset="0"/>
                          <a:ea typeface="Calibri" pitchFamily="34" charset="-122"/>
                          <a:cs typeface="Calibri" pitchFamily="34" charset="-120"/>
                        </a:rPr>
                        <a:t>Nu</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b="1" dirty="0">
                          <a:solidFill>
                            <a:srgbClr val="171310"/>
                          </a:solidFill>
                          <a:latin typeface="Calibri" pitchFamily="34" charset="0"/>
                          <a:ea typeface="Calibri" pitchFamily="34" charset="-122"/>
                          <a:cs typeface="Calibri" pitchFamily="34" charset="-120"/>
                        </a:rPr>
                        <a:t>Wanneer wél kosten</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r>
              <a:tr h="566928">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Supabase (database)</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Gratis</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€ 25 per maand bij meer dan 500 MB of 50.000 gebruikers — niet in zicht</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r>
              <a:tr h="566928">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Resend (inlogmail)</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Gratis tot 3.000 mails per maand</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€ 20 per maand daarboven. Klanten blijven ingelogd, dus dit haalt u niet</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r>
              <a:tr h="566928">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Vercel (hosting)</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Gratis</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Gratis laag is voor niet-commercieel gebruik. Alternatieven als Netlify zijn ook gratis</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r>
              <a:tr h="566928">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App Store / Play Store</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Niet nodig</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c>
                  <a:txBody>
                    <a:bodyPr/>
                    <a:lstStyle/>
                    <a:p>
                      <a:pPr indent="0" marL="0">
                        <a:buNone/>
                      </a:pPr>
                      <a:r>
                        <a:rPr lang="en-US" sz="1000" dirty="0">
                          <a:solidFill>
                            <a:srgbClr val="171310"/>
                          </a:solidFill>
                          <a:latin typeface="Calibri" pitchFamily="34" charset="0"/>
                          <a:ea typeface="Calibri" pitchFamily="34" charset="-122"/>
                          <a:cs typeface="Calibri" pitchFamily="34" charset="-120"/>
                        </a:rPr>
                        <a:t>Alleen als de app later in de winkels moet: Apple €99 per jaar, Google €25 eenmalig</a:t>
                      </a:r>
                      <a:endParaRPr lang="en-US" sz="1000" dirty="0">
                        <a:latin typeface="Calibri" charset="0"/>
                        <a:ea typeface="Calibri" charset="0"/>
                        <a:cs typeface="Calibri" charset="0"/>
                      </a:endParaRPr>
                    </a:p>
                  </a:txBody>
                  <a:tcPr marL="54864" marR="54864" marT="54864" marB="54864" anchor="ctr">
                    <a:lnL w="9525" cap="flat" cmpd="sng" algn="ctr">
                      <a:solidFill>
                        <a:srgbClr val="E4E1DD"/>
                      </a:solidFill>
                      <a:prstDash val="solid"/>
                      <a:round/>
                      <a:headEnd type="none" w="med" len="med"/>
                      <a:tailEnd type="none" w="med" len="med"/>
                    </a:lnL>
                    <a:lnR w="9525" cap="flat" cmpd="sng" algn="ctr">
                      <a:solidFill>
                        <a:srgbClr val="E4E1DD"/>
                      </a:solidFill>
                      <a:prstDash val="solid"/>
                      <a:round/>
                      <a:headEnd type="none" w="med" len="med"/>
                      <a:tailEnd type="none" w="med" len="med"/>
                    </a:lnR>
                    <a:lnT w="9525" cap="flat" cmpd="sng" algn="ctr">
                      <a:solidFill>
                        <a:srgbClr val="E4E1DD"/>
                      </a:solidFill>
                      <a:prstDash val="solid"/>
                      <a:round/>
                      <a:headEnd type="none" w="med" len="med"/>
                      <a:tailEnd type="none" w="med" len="med"/>
                    </a:lnT>
                    <a:lnB w="9525" cap="flat" cmpd="sng" algn="ctr">
                      <a:solidFill>
                        <a:srgbClr val="E4E1DD"/>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968C83"/>
                </a:solidFill>
                <a:latin typeface="Calibri" pitchFamily="34" charset="0"/>
                <a:ea typeface="Calibri" pitchFamily="34" charset="-122"/>
                <a:cs typeface="Calibri" pitchFamily="34" charset="-120"/>
              </a:rPr>
              <a:t>Bedragen zijn de tarieven van september 2026. De enige echte investering tot nu toe is tijd.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171310"/>
                </a:solidFill>
                <a:latin typeface="Arial" pitchFamily="34" charset="0"/>
                <a:ea typeface="Arial" pitchFamily="34" charset="-122"/>
                <a:cs typeface="Arial" pitchFamily="34" charset="-120"/>
              </a:rPr>
              <a:t>Wat u zo meteen ziet</a:t>
            </a:r>
            <a:endParaRPr lang="en-US" sz="2800" dirty="0"/>
          </a:p>
        </p:txBody>
      </p:sp>
      <p:sp>
        <p:nvSpPr>
          <p:cNvPr id="3" name="Shape 1"/>
          <p:cNvSpPr/>
          <p:nvPr/>
        </p:nvSpPr>
        <p:spPr>
          <a:xfrm>
            <a:off x="457200" y="1188720"/>
            <a:ext cx="3977640" cy="1371600"/>
          </a:xfrm>
          <a:prstGeom prst="roundRect">
            <a:avLst>
              <a:gd name="adj" fmla="val 8000"/>
            </a:avLst>
          </a:prstGeom>
          <a:solidFill>
            <a:srgbClr val="FFFFFF"/>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685800" y="1417320"/>
            <a:ext cx="548640" cy="548640"/>
          </a:xfrm>
          <a:prstGeom prst="ellipse">
            <a:avLst/>
          </a:prstGeom>
          <a:solidFill>
            <a:srgbClr val="FF7212"/>
          </a:solidFill>
          <a:ln w="12700">
            <a:solidFill>
              <a:srgbClr val="FF7212"/>
            </a:solidFill>
            <a:prstDash val="solid"/>
          </a:ln>
        </p:spPr>
      </p:sp>
      <p:pic>
        <p:nvPicPr>
          <p:cNvPr id="5" name="Image 0" descr="preencoded.png">    </p:cNvPr>
          <p:cNvPicPr>
            <a:picLocks noChangeAspect="1"/>
          </p:cNvPicPr>
          <p:nvPr/>
        </p:nvPicPr>
        <p:blipFill>
          <a:blip r:embed="rId1"/>
          <a:stretch>
            <a:fillRect/>
          </a:stretch>
        </p:blipFill>
        <p:spPr>
          <a:xfrm>
            <a:off x="828446" y="1559966"/>
            <a:ext cx="263347" cy="263347"/>
          </a:xfrm>
          <a:prstGeom prst="rect">
            <a:avLst/>
          </a:prstGeom>
        </p:spPr>
      </p:pic>
      <p:sp>
        <p:nvSpPr>
          <p:cNvPr id="6" name="Text 3"/>
          <p:cNvSpPr txBox="1"/>
          <p:nvPr/>
        </p:nvSpPr>
        <p:spPr>
          <a:xfrm>
            <a:off x="1417320" y="1371600"/>
            <a:ext cx="2834640" cy="320040"/>
          </a:xfrm>
          <a:prstGeom prst="rect">
            <a:avLst/>
          </a:prstGeom>
          <a:noFill/>
          <a:ln/>
        </p:spPr>
        <p:txBody>
          <a:bodyPr wrap="square" lIns="0" tIns="0" rIns="0" bIns="0" rtlCol="0" anchor="ctr"/>
          <a:lstStyle/>
          <a:p>
            <a:pPr indent="0" marL="0">
              <a:buNone/>
            </a:pPr>
            <a:r>
              <a:rPr lang="en-US" sz="1400" b="1" dirty="0">
                <a:solidFill>
                  <a:srgbClr val="171310"/>
                </a:solidFill>
                <a:latin typeface="Arial" pitchFamily="34" charset="0"/>
                <a:ea typeface="Arial" pitchFamily="34" charset="-122"/>
                <a:cs typeface="Arial" pitchFamily="34" charset="-120"/>
              </a:rPr>
              <a:t>Op de telefoon: de klant</a:t>
            </a:r>
            <a:endParaRPr lang="en-US" sz="1400" dirty="0"/>
          </a:p>
        </p:txBody>
      </p:sp>
      <p:sp>
        <p:nvSpPr>
          <p:cNvPr id="7" name="Text 4"/>
          <p:cNvSpPr txBox="1"/>
          <p:nvPr/>
        </p:nvSpPr>
        <p:spPr>
          <a:xfrm>
            <a:off x="1417320" y="1719072"/>
            <a:ext cx="2834640" cy="777240"/>
          </a:xfrm>
          <a:prstGeom prst="rect">
            <a:avLst/>
          </a:prstGeom>
          <a:noFill/>
          <a:ln/>
        </p:spPr>
        <p:txBody>
          <a:bodyPr wrap="square" lIns="0" tIns="0" rIns="0" bIns="0" rtlCol="0" anchor="t"/>
          <a:lstStyle/>
          <a:p>
            <a:pPr indent="0" marL="0">
              <a:buNone/>
            </a:pPr>
            <a:r>
              <a:rPr lang="en-US" sz="1150" dirty="0">
                <a:solidFill>
                  <a:srgbClr val="6E655C"/>
                </a:solidFill>
                <a:latin typeface="Calibri" pitchFamily="34" charset="0"/>
                <a:ea typeface="Calibri" pitchFamily="34" charset="-122"/>
                <a:cs typeface="Calibri" pitchFamily="34" charset="-120"/>
              </a:rPr>
              <a:t>De pas met QR-code, het pasnummer, het pakkettype en de eerstvolgende uitdeling.</a:t>
            </a:r>
            <a:endParaRPr lang="en-US" sz="1150" dirty="0"/>
          </a:p>
        </p:txBody>
      </p:sp>
      <p:sp>
        <p:nvSpPr>
          <p:cNvPr id="8" name="Shape 5"/>
          <p:cNvSpPr/>
          <p:nvPr/>
        </p:nvSpPr>
        <p:spPr>
          <a:xfrm>
            <a:off x="4709160" y="1188720"/>
            <a:ext cx="3977640" cy="1371600"/>
          </a:xfrm>
          <a:prstGeom prst="roundRect">
            <a:avLst>
              <a:gd name="adj" fmla="val 8000"/>
            </a:avLst>
          </a:prstGeom>
          <a:solidFill>
            <a:srgbClr val="FFFFFF"/>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9" name="Shape 6"/>
          <p:cNvSpPr/>
          <p:nvPr/>
        </p:nvSpPr>
        <p:spPr>
          <a:xfrm>
            <a:off x="4937760" y="1417320"/>
            <a:ext cx="548640" cy="548640"/>
          </a:xfrm>
          <a:prstGeom prst="ellipse">
            <a:avLst/>
          </a:prstGeom>
          <a:solidFill>
            <a:srgbClr val="FF7212"/>
          </a:solidFill>
          <a:ln w="12700">
            <a:solidFill>
              <a:srgbClr val="FF7212"/>
            </a:solidFill>
            <a:prstDash val="solid"/>
          </a:ln>
        </p:spPr>
      </p:sp>
      <p:pic>
        <p:nvPicPr>
          <p:cNvPr id="10" name="Image 1" descr="preencoded.png">    </p:cNvPr>
          <p:cNvPicPr>
            <a:picLocks noChangeAspect="1"/>
          </p:cNvPicPr>
          <p:nvPr/>
        </p:nvPicPr>
        <p:blipFill>
          <a:blip r:embed="rId2"/>
          <a:stretch>
            <a:fillRect/>
          </a:stretch>
        </p:blipFill>
        <p:spPr>
          <a:xfrm>
            <a:off x="5080406" y="1559966"/>
            <a:ext cx="263347" cy="263347"/>
          </a:xfrm>
          <a:prstGeom prst="rect">
            <a:avLst/>
          </a:prstGeom>
        </p:spPr>
      </p:pic>
      <p:sp>
        <p:nvSpPr>
          <p:cNvPr id="11" name="Text 7"/>
          <p:cNvSpPr txBox="1"/>
          <p:nvPr/>
        </p:nvSpPr>
        <p:spPr>
          <a:xfrm>
            <a:off x="5669280" y="1371600"/>
            <a:ext cx="2834640" cy="320040"/>
          </a:xfrm>
          <a:prstGeom prst="rect">
            <a:avLst/>
          </a:prstGeom>
          <a:noFill/>
          <a:ln/>
        </p:spPr>
        <p:txBody>
          <a:bodyPr wrap="square" lIns="0" tIns="0" rIns="0" bIns="0" rtlCol="0" anchor="ctr"/>
          <a:lstStyle/>
          <a:p>
            <a:pPr indent="0" marL="0">
              <a:buNone/>
            </a:pPr>
            <a:r>
              <a:rPr lang="en-US" sz="1400" b="1" dirty="0">
                <a:solidFill>
                  <a:srgbClr val="171310"/>
                </a:solidFill>
                <a:latin typeface="Arial" pitchFamily="34" charset="0"/>
                <a:ea typeface="Arial" pitchFamily="34" charset="-122"/>
                <a:cs typeface="Arial" pitchFamily="34" charset="-120"/>
              </a:rPr>
              <a:t>Op het scherm: de vrijwilliger</a:t>
            </a:r>
            <a:endParaRPr lang="en-US" sz="1400" dirty="0"/>
          </a:p>
        </p:txBody>
      </p:sp>
      <p:sp>
        <p:nvSpPr>
          <p:cNvPr id="12" name="Text 8"/>
          <p:cNvSpPr txBox="1"/>
          <p:nvPr/>
        </p:nvSpPr>
        <p:spPr>
          <a:xfrm>
            <a:off x="5669280" y="1719072"/>
            <a:ext cx="2834640" cy="777240"/>
          </a:xfrm>
          <a:prstGeom prst="rect">
            <a:avLst/>
          </a:prstGeom>
          <a:noFill/>
          <a:ln/>
        </p:spPr>
        <p:txBody>
          <a:bodyPr wrap="square" lIns="0" tIns="0" rIns="0" bIns="0" rtlCol="0" anchor="t"/>
          <a:lstStyle/>
          <a:p>
            <a:pPr indent="0" marL="0">
              <a:buNone/>
            </a:pPr>
            <a:r>
              <a:rPr lang="en-US" sz="1150" dirty="0">
                <a:solidFill>
                  <a:srgbClr val="6E655C"/>
                </a:solidFill>
                <a:latin typeface="Calibri" pitchFamily="34" charset="0"/>
                <a:ea typeface="Calibri" pitchFamily="34" charset="-122"/>
                <a:cs typeface="Calibri" pitchFamily="34" charset="-120"/>
              </a:rPr>
              <a:t>De scanner, het resultaat na een scan, het loodsoverzicht en het versturen van een bericht.</a:t>
            </a:r>
            <a:endParaRPr lang="en-US" sz="1150" dirty="0"/>
          </a:p>
        </p:txBody>
      </p:sp>
      <p:sp>
        <p:nvSpPr>
          <p:cNvPr id="13" name="Shape 9"/>
          <p:cNvSpPr/>
          <p:nvPr/>
        </p:nvSpPr>
        <p:spPr>
          <a:xfrm>
            <a:off x="457200" y="2816352"/>
            <a:ext cx="292608" cy="292608"/>
          </a:xfrm>
          <a:prstGeom prst="ellipse">
            <a:avLst/>
          </a:prstGeom>
          <a:solidFill>
            <a:srgbClr val="FF7212"/>
          </a:solidFill>
          <a:ln w="12700">
            <a:solidFill>
              <a:srgbClr val="FF7212"/>
            </a:solidFill>
            <a:prstDash val="solid"/>
          </a:ln>
        </p:spPr>
      </p:sp>
      <p:sp>
        <p:nvSpPr>
          <p:cNvPr id="14" name="Text 10"/>
          <p:cNvSpPr txBox="1"/>
          <p:nvPr/>
        </p:nvSpPr>
        <p:spPr>
          <a:xfrm>
            <a:off x="457200" y="28163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 name="Text 11"/>
          <p:cNvSpPr txBox="1"/>
          <p:nvPr/>
        </p:nvSpPr>
        <p:spPr>
          <a:xfrm>
            <a:off x="868680" y="2788920"/>
            <a:ext cx="7772400" cy="347472"/>
          </a:xfrm>
          <a:prstGeom prst="rect">
            <a:avLst/>
          </a:prstGeom>
          <a:noFill/>
          <a:ln/>
        </p:spPr>
        <p:txBody>
          <a:bodyPr wrap="square" lIns="0" tIns="0" rIns="0" bIns="0" rtlCol="0" anchor="ctr"/>
          <a:lstStyle/>
          <a:p>
            <a:pPr indent="0" marL="0">
              <a:buNone/>
            </a:pPr>
            <a:r>
              <a:rPr lang="en-US" sz="1300" dirty="0">
                <a:solidFill>
                  <a:srgbClr val="171310"/>
                </a:solidFill>
                <a:latin typeface="Calibri" pitchFamily="34" charset="0"/>
                <a:ea typeface="Calibri" pitchFamily="34" charset="-122"/>
                <a:cs typeface="Calibri" pitchFamily="34" charset="-120"/>
              </a:rPr>
              <a:t>De klant opent de app en laat de pas zien</a:t>
            </a:r>
            <a:endParaRPr lang="en-US" sz="1300" dirty="0"/>
          </a:p>
        </p:txBody>
      </p:sp>
      <p:sp>
        <p:nvSpPr>
          <p:cNvPr id="16" name="Shape 12"/>
          <p:cNvSpPr/>
          <p:nvPr/>
        </p:nvSpPr>
        <p:spPr>
          <a:xfrm>
            <a:off x="457200" y="3182112"/>
            <a:ext cx="292608" cy="292608"/>
          </a:xfrm>
          <a:prstGeom prst="ellipse">
            <a:avLst/>
          </a:prstGeom>
          <a:solidFill>
            <a:srgbClr val="FF7212"/>
          </a:solidFill>
          <a:ln w="12700">
            <a:solidFill>
              <a:srgbClr val="FF7212"/>
            </a:solidFill>
            <a:prstDash val="solid"/>
          </a:ln>
        </p:spPr>
      </p:sp>
      <p:sp>
        <p:nvSpPr>
          <p:cNvPr id="17" name="Text 13"/>
          <p:cNvSpPr txBox="1"/>
          <p:nvPr/>
        </p:nvSpPr>
        <p:spPr>
          <a:xfrm>
            <a:off x="457200" y="318211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4"/>
          <p:cNvSpPr txBox="1"/>
          <p:nvPr/>
        </p:nvSpPr>
        <p:spPr>
          <a:xfrm>
            <a:off x="868680" y="3154680"/>
            <a:ext cx="7772400" cy="347472"/>
          </a:xfrm>
          <a:prstGeom prst="rect">
            <a:avLst/>
          </a:prstGeom>
          <a:noFill/>
          <a:ln/>
        </p:spPr>
        <p:txBody>
          <a:bodyPr wrap="square" lIns="0" tIns="0" rIns="0" bIns="0" rtlCol="0" anchor="ctr"/>
          <a:lstStyle/>
          <a:p>
            <a:pPr indent="0" marL="0">
              <a:buNone/>
            </a:pPr>
            <a:r>
              <a:rPr lang="en-US" sz="1300" dirty="0">
                <a:solidFill>
                  <a:srgbClr val="171310"/>
                </a:solidFill>
                <a:latin typeface="Calibri" pitchFamily="34" charset="0"/>
                <a:ea typeface="Calibri" pitchFamily="34" charset="-122"/>
                <a:cs typeface="Calibri" pitchFamily="34" charset="-120"/>
              </a:rPr>
              <a:t>De vrijwilliger scant hem met de laptop-camera</a:t>
            </a:r>
            <a:endParaRPr lang="en-US" sz="1300" dirty="0"/>
          </a:p>
        </p:txBody>
      </p:sp>
      <p:sp>
        <p:nvSpPr>
          <p:cNvPr id="19" name="Shape 15"/>
          <p:cNvSpPr/>
          <p:nvPr/>
        </p:nvSpPr>
        <p:spPr>
          <a:xfrm>
            <a:off x="457200" y="3547872"/>
            <a:ext cx="292608" cy="292608"/>
          </a:xfrm>
          <a:prstGeom prst="ellipse">
            <a:avLst/>
          </a:prstGeom>
          <a:solidFill>
            <a:srgbClr val="FF7212"/>
          </a:solidFill>
          <a:ln w="12700">
            <a:solidFill>
              <a:srgbClr val="FF7212"/>
            </a:solidFill>
            <a:prstDash val="solid"/>
          </a:ln>
        </p:spPr>
      </p:sp>
      <p:sp>
        <p:nvSpPr>
          <p:cNvPr id="20" name="Text 16"/>
          <p:cNvSpPr txBox="1"/>
          <p:nvPr/>
        </p:nvSpPr>
        <p:spPr>
          <a:xfrm>
            <a:off x="457200" y="35478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1" name="Text 17"/>
          <p:cNvSpPr txBox="1"/>
          <p:nvPr/>
        </p:nvSpPr>
        <p:spPr>
          <a:xfrm>
            <a:off x="868680" y="3520440"/>
            <a:ext cx="7772400" cy="347472"/>
          </a:xfrm>
          <a:prstGeom prst="rect">
            <a:avLst/>
          </a:prstGeom>
          <a:noFill/>
          <a:ln/>
        </p:spPr>
        <p:txBody>
          <a:bodyPr wrap="square" lIns="0" tIns="0" rIns="0" bIns="0" rtlCol="0" anchor="ctr"/>
          <a:lstStyle/>
          <a:p>
            <a:pPr indent="0" marL="0">
              <a:buNone/>
            </a:pPr>
            <a:r>
              <a:rPr lang="en-US" sz="1300" dirty="0">
                <a:solidFill>
                  <a:srgbClr val="171310"/>
                </a:solidFill>
                <a:latin typeface="Calibri" pitchFamily="34" charset="0"/>
                <a:ea typeface="Calibri" pitchFamily="34" charset="-122"/>
                <a:cs typeface="Calibri" pitchFamily="34" charset="-120"/>
              </a:rPr>
              <a:t>Naam, pakket D en "geen alcohol" verschijnen</a:t>
            </a:r>
            <a:endParaRPr lang="en-US" sz="1300" dirty="0"/>
          </a:p>
        </p:txBody>
      </p:sp>
      <p:sp>
        <p:nvSpPr>
          <p:cNvPr id="22" name="Shape 18"/>
          <p:cNvSpPr/>
          <p:nvPr/>
        </p:nvSpPr>
        <p:spPr>
          <a:xfrm>
            <a:off x="457200" y="3913632"/>
            <a:ext cx="292608" cy="292608"/>
          </a:xfrm>
          <a:prstGeom prst="ellipse">
            <a:avLst/>
          </a:prstGeom>
          <a:solidFill>
            <a:srgbClr val="FF7212"/>
          </a:solidFill>
          <a:ln w="12700">
            <a:solidFill>
              <a:srgbClr val="FF7212"/>
            </a:solidFill>
            <a:prstDash val="solid"/>
          </a:ln>
        </p:spPr>
      </p:sp>
      <p:sp>
        <p:nvSpPr>
          <p:cNvPr id="23" name="Text 19"/>
          <p:cNvSpPr txBox="1"/>
          <p:nvPr/>
        </p:nvSpPr>
        <p:spPr>
          <a:xfrm>
            <a:off x="457200" y="391363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4" name="Text 20"/>
          <p:cNvSpPr txBox="1"/>
          <p:nvPr/>
        </p:nvSpPr>
        <p:spPr>
          <a:xfrm>
            <a:off x="868680" y="3886200"/>
            <a:ext cx="7772400" cy="347472"/>
          </a:xfrm>
          <a:prstGeom prst="rect">
            <a:avLst/>
          </a:prstGeom>
          <a:noFill/>
          <a:ln/>
        </p:spPr>
        <p:txBody>
          <a:bodyPr wrap="square" lIns="0" tIns="0" rIns="0" bIns="0" rtlCol="0" anchor="ctr"/>
          <a:lstStyle/>
          <a:p>
            <a:pPr indent="0" marL="0">
              <a:buNone/>
            </a:pPr>
            <a:r>
              <a:rPr lang="en-US" sz="1300" dirty="0">
                <a:solidFill>
                  <a:srgbClr val="171310"/>
                </a:solidFill>
                <a:latin typeface="Calibri" pitchFamily="34" charset="0"/>
                <a:ea typeface="Calibri" pitchFamily="34" charset="-122"/>
                <a:cs typeface="Calibri" pitchFamily="34" charset="-120"/>
              </a:rPr>
              <a:t>Pakket uitgegeven — en de loods telt mee</a:t>
            </a:r>
            <a:endParaRPr lang="en-US" sz="1300" dirty="0"/>
          </a:p>
        </p:txBody>
      </p:sp>
      <p:sp>
        <p:nvSpPr>
          <p:cNvPr id="25" name="Shape 21"/>
          <p:cNvSpPr/>
          <p:nvPr/>
        </p:nvSpPr>
        <p:spPr>
          <a:xfrm>
            <a:off x="457200" y="4279392"/>
            <a:ext cx="292608" cy="292608"/>
          </a:xfrm>
          <a:prstGeom prst="ellipse">
            <a:avLst/>
          </a:prstGeom>
          <a:solidFill>
            <a:srgbClr val="FF7212"/>
          </a:solidFill>
          <a:ln w="12700">
            <a:solidFill>
              <a:srgbClr val="FF7212"/>
            </a:solidFill>
            <a:prstDash val="solid"/>
          </a:ln>
        </p:spPr>
      </p:sp>
      <p:sp>
        <p:nvSpPr>
          <p:cNvPr id="26" name="Text 22"/>
          <p:cNvSpPr txBox="1"/>
          <p:nvPr/>
        </p:nvSpPr>
        <p:spPr>
          <a:xfrm>
            <a:off x="457200" y="42793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7" name="Text 23"/>
          <p:cNvSpPr txBox="1"/>
          <p:nvPr/>
        </p:nvSpPr>
        <p:spPr>
          <a:xfrm>
            <a:off x="868680" y="4251960"/>
            <a:ext cx="7772400" cy="347472"/>
          </a:xfrm>
          <a:prstGeom prst="rect">
            <a:avLst/>
          </a:prstGeom>
          <a:noFill/>
          <a:ln/>
        </p:spPr>
        <p:txBody>
          <a:bodyPr wrap="square" lIns="0" tIns="0" rIns="0" bIns="0" rtlCol="0" anchor="ctr"/>
          <a:lstStyle/>
          <a:p>
            <a:pPr indent="0" marL="0">
              <a:buNone/>
            </a:pPr>
            <a:r>
              <a:rPr lang="en-US" sz="1300" dirty="0">
                <a:solidFill>
                  <a:srgbClr val="171310"/>
                </a:solidFill>
                <a:latin typeface="Calibri" pitchFamily="34" charset="0"/>
                <a:ea typeface="Calibri" pitchFamily="34" charset="-122"/>
                <a:cs typeface="Calibri" pitchFamily="34" charset="-120"/>
              </a:rPr>
              <a:t>Een bericht sturen: de melding komt op de telefoon</a:t>
            </a:r>
            <a:endParaRPr lang="en-US" sz="1300" dirty="0"/>
          </a:p>
        </p:txBody>
      </p:sp>
      <p:sp>
        <p:nvSpPr>
          <p:cNvPr id="28" name="Shape 24"/>
          <p:cNvSpPr/>
          <p:nvPr/>
        </p:nvSpPr>
        <p:spPr>
          <a:xfrm>
            <a:off x="4709160" y="2788920"/>
            <a:ext cx="3977640" cy="1783080"/>
          </a:xfrm>
          <a:prstGeom prst="roundRect">
            <a:avLst>
              <a:gd name="adj" fmla="val 6154"/>
            </a:avLst>
          </a:prstGeom>
          <a:solidFill>
            <a:srgbClr val="FFF1E6"/>
          </a:solidFill>
          <a:ln w="9525">
            <a:solidFill>
              <a:srgbClr val="E4E1DD"/>
            </a:solidFill>
            <a:prstDash val="solid"/>
          </a:ln>
          <a:effectLst>
            <a:outerShdw sx="100000" sy="100000" kx="0" ky="0" algn="bl" rotWithShape="0" blurRad="76200" dist="25400" dir="5400000">
              <a:srgbClr val="000000">
                <a:alpha val="8000"/>
              </a:srgbClr>
            </a:outerShdw>
          </a:effectLst>
        </p:spPr>
      </p:sp>
      <p:sp>
        <p:nvSpPr>
          <p:cNvPr id="29" name="Text 25"/>
          <p:cNvSpPr txBox="1"/>
          <p:nvPr/>
        </p:nvSpPr>
        <p:spPr>
          <a:xfrm>
            <a:off x="4937760" y="2926080"/>
            <a:ext cx="3566160" cy="274320"/>
          </a:xfrm>
          <a:prstGeom prst="rect">
            <a:avLst/>
          </a:prstGeom>
          <a:noFill/>
          <a:ln/>
        </p:spPr>
        <p:txBody>
          <a:bodyPr wrap="square" lIns="0" tIns="0" rIns="0" bIns="0" rtlCol="0" anchor="ctr"/>
          <a:lstStyle/>
          <a:p>
            <a:pPr indent="0" marL="0">
              <a:buNone/>
            </a:pPr>
            <a:r>
              <a:rPr lang="en-US" sz="1300" b="1" dirty="0">
                <a:solidFill>
                  <a:srgbClr val="C24E00"/>
                </a:solidFill>
                <a:latin typeface="Arial" pitchFamily="34" charset="0"/>
                <a:ea typeface="Arial" pitchFamily="34" charset="-122"/>
                <a:cs typeface="Arial" pitchFamily="34" charset="-120"/>
              </a:rPr>
              <a:t>Als er iets hapert</a:t>
            </a:r>
            <a:endParaRPr lang="en-US" sz="1300" dirty="0"/>
          </a:p>
        </p:txBody>
      </p:sp>
      <p:sp>
        <p:nvSpPr>
          <p:cNvPr id="30" name="Text 26"/>
          <p:cNvSpPr txBox="1"/>
          <p:nvPr/>
        </p:nvSpPr>
        <p:spPr>
          <a:xfrm>
            <a:off x="4937760" y="3246120"/>
            <a:ext cx="3566160" cy="12801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24E00"/>
                </a:solidFill>
                <a:latin typeface="Calibri" pitchFamily="34" charset="0"/>
                <a:ea typeface="Calibri" pitchFamily="34" charset="-122"/>
                <a:cs typeface="Calibri" pitchFamily="34" charset="-120"/>
              </a:rPr>
              <a:t>Camera leest niet: typ het pasnummer in — dat is een echte functie</a:t>
            </a:r>
            <a:endParaRPr lang="en-US" sz="1150" dirty="0"/>
          </a:p>
          <a:p>
            <a:pPr marL="342900" indent="-342900">
              <a:spcAft>
                <a:spcPts val="400"/>
              </a:spcAft>
              <a:buSzPct val="100000"/>
              <a:buChar char="•"/>
            </a:pPr>
            <a:r>
              <a:rPr lang="en-US" sz="1150" dirty="0">
                <a:solidFill>
                  <a:srgbClr val="C24E00"/>
                </a:solidFill>
                <a:latin typeface="Calibri" pitchFamily="34" charset="0"/>
                <a:ea typeface="Calibri" pitchFamily="34" charset="-122"/>
                <a:cs typeface="Calibri" pitchFamily="34" charset="-120"/>
              </a:rPr>
              <a:t>Geen wifi: de pas werkt vanaf een schermafbeelding</a:t>
            </a:r>
            <a:endParaRPr lang="en-US" sz="1150" dirty="0"/>
          </a:p>
          <a:p>
            <a:pPr marL="342900" indent="-342900">
              <a:spcAft>
                <a:spcPts val="400"/>
              </a:spcAft>
              <a:buSzPct val="100000"/>
              <a:buChar char="•"/>
            </a:pPr>
            <a:r>
              <a:rPr lang="en-US" sz="1150" dirty="0">
                <a:solidFill>
                  <a:srgbClr val="C24E00"/>
                </a:solidFill>
                <a:latin typeface="Calibri" pitchFamily="34" charset="0"/>
                <a:ea typeface="Calibri" pitchFamily="34" charset="-122"/>
                <a:cs typeface="Calibri" pitchFamily="34" charset="-120"/>
              </a:rPr>
              <a:t>Melding komt niet: het bericht staat wél onder Nieuws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310"/>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Wat we het bestuur vragen</a:t>
            </a:r>
            <a:endParaRPr lang="en-US" sz="2800" dirty="0"/>
          </a:p>
        </p:txBody>
      </p:sp>
      <p:sp>
        <p:nvSpPr>
          <p:cNvPr id="3" name="Shape 1"/>
          <p:cNvSpPr/>
          <p:nvPr/>
        </p:nvSpPr>
        <p:spPr>
          <a:xfrm>
            <a:off x="457200" y="1325880"/>
            <a:ext cx="502920" cy="502920"/>
          </a:xfrm>
          <a:prstGeom prst="ellipse">
            <a:avLst/>
          </a:prstGeom>
          <a:solidFill>
            <a:srgbClr val="FF7212"/>
          </a:solidFill>
          <a:ln w="12700">
            <a:solidFill>
              <a:srgbClr val="FF7212"/>
            </a:solidFill>
            <a:prstDash val="solid"/>
          </a:ln>
        </p:spPr>
      </p:sp>
      <p:sp>
        <p:nvSpPr>
          <p:cNvPr id="4" name="Text 2"/>
          <p:cNvSpPr txBox="1"/>
          <p:nvPr/>
        </p:nvSpPr>
        <p:spPr>
          <a:xfrm>
            <a:off x="457200" y="13258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1188720" y="1280160"/>
            <a:ext cx="749808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Akkoord voor een proef</a:t>
            </a:r>
            <a:endParaRPr lang="en-US" sz="1600" dirty="0"/>
          </a:p>
        </p:txBody>
      </p:sp>
      <p:sp>
        <p:nvSpPr>
          <p:cNvPr id="6" name="Text 4"/>
          <p:cNvSpPr txBox="1"/>
          <p:nvPr/>
        </p:nvSpPr>
        <p:spPr>
          <a:xfrm>
            <a:off x="1188720" y="1627632"/>
            <a:ext cx="7498080" cy="548640"/>
          </a:xfrm>
          <a:prstGeom prst="rect">
            <a:avLst/>
          </a:prstGeom>
          <a:noFill/>
          <a:ln/>
        </p:spPr>
        <p:txBody>
          <a:bodyPr wrap="square" lIns="0" tIns="0" rIns="0" bIns="0" rtlCol="0" anchor="t"/>
          <a:lstStyle/>
          <a:p>
            <a:pPr indent="0" marL="0">
              <a:buNone/>
            </a:pPr>
            <a:r>
              <a:rPr lang="en-US" sz="1250" dirty="0">
                <a:solidFill>
                  <a:srgbClr val="D9D2CA"/>
                </a:solidFill>
                <a:latin typeface="Calibri" pitchFamily="34" charset="0"/>
                <a:ea typeface="Calibri" pitchFamily="34" charset="-122"/>
                <a:cs typeface="Calibri" pitchFamily="34" charset="-120"/>
              </a:rPr>
              <a:t>Vier weken op één uitdeellocatie, met een handvol klanten die het willen proberen. Papieren pas blijft ernaast bestaan.</a:t>
            </a:r>
            <a:endParaRPr lang="en-US" sz="1250" dirty="0"/>
          </a:p>
        </p:txBody>
      </p:sp>
      <p:sp>
        <p:nvSpPr>
          <p:cNvPr id="7" name="Shape 5"/>
          <p:cNvSpPr/>
          <p:nvPr/>
        </p:nvSpPr>
        <p:spPr>
          <a:xfrm>
            <a:off x="457200" y="2331720"/>
            <a:ext cx="502920" cy="502920"/>
          </a:xfrm>
          <a:prstGeom prst="ellipse">
            <a:avLst/>
          </a:prstGeom>
          <a:solidFill>
            <a:srgbClr val="FF7212"/>
          </a:solidFill>
          <a:ln w="12700">
            <a:solidFill>
              <a:srgbClr val="FF7212"/>
            </a:solidFill>
            <a:prstDash val="solid"/>
          </a:ln>
        </p:spPr>
      </p:sp>
      <p:sp>
        <p:nvSpPr>
          <p:cNvPr id="8" name="Text 6"/>
          <p:cNvSpPr txBox="1"/>
          <p:nvPr/>
        </p:nvSpPr>
        <p:spPr>
          <a:xfrm>
            <a:off x="457200" y="2331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Text 7"/>
          <p:cNvSpPr txBox="1"/>
          <p:nvPr/>
        </p:nvSpPr>
        <p:spPr>
          <a:xfrm>
            <a:off x="1188720" y="2286000"/>
            <a:ext cx="749808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Toestemming voor de domeinkoppeling</a:t>
            </a:r>
            <a:endParaRPr lang="en-US" sz="1600" dirty="0"/>
          </a:p>
        </p:txBody>
      </p:sp>
      <p:sp>
        <p:nvSpPr>
          <p:cNvPr id="10" name="Text 8"/>
          <p:cNvSpPr txBox="1"/>
          <p:nvPr/>
        </p:nvSpPr>
        <p:spPr>
          <a:xfrm>
            <a:off x="1188720" y="2633472"/>
            <a:ext cx="7498080" cy="548640"/>
          </a:xfrm>
          <a:prstGeom prst="rect">
            <a:avLst/>
          </a:prstGeom>
          <a:noFill/>
          <a:ln/>
        </p:spPr>
        <p:txBody>
          <a:bodyPr wrap="square" lIns="0" tIns="0" rIns="0" bIns="0" rtlCol="0" anchor="t"/>
          <a:lstStyle/>
          <a:p>
            <a:pPr indent="0" marL="0">
              <a:buNone/>
            </a:pPr>
            <a:r>
              <a:rPr lang="en-US" sz="1250" dirty="0">
                <a:solidFill>
                  <a:srgbClr val="D9D2CA"/>
                </a:solidFill>
                <a:latin typeface="Calibri" pitchFamily="34" charset="0"/>
                <a:ea typeface="Calibri" pitchFamily="34" charset="-122"/>
                <a:cs typeface="Calibri" pitchFamily="34" charset="-120"/>
              </a:rPr>
              <a:t>Drie DNS-records bij voedselbankhaarlemmermeer.nl. Zonder dit werkt de inlogmail niet betrouwbaar.</a:t>
            </a:r>
            <a:endParaRPr lang="en-US" sz="1250" dirty="0"/>
          </a:p>
        </p:txBody>
      </p:sp>
      <p:sp>
        <p:nvSpPr>
          <p:cNvPr id="11" name="Shape 9"/>
          <p:cNvSpPr/>
          <p:nvPr/>
        </p:nvSpPr>
        <p:spPr>
          <a:xfrm>
            <a:off x="457200" y="3337560"/>
            <a:ext cx="502920" cy="502920"/>
          </a:xfrm>
          <a:prstGeom prst="ellipse">
            <a:avLst/>
          </a:prstGeom>
          <a:solidFill>
            <a:srgbClr val="FF7212"/>
          </a:solidFill>
          <a:ln w="12700">
            <a:solidFill>
              <a:srgbClr val="FF7212"/>
            </a:solidFill>
            <a:prstDash val="solid"/>
          </a:ln>
        </p:spPr>
      </p:sp>
      <p:sp>
        <p:nvSpPr>
          <p:cNvPr id="12" name="Text 10"/>
          <p:cNvSpPr txBox="1"/>
          <p:nvPr/>
        </p:nvSpPr>
        <p:spPr>
          <a:xfrm>
            <a:off x="457200" y="33375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txBox="1"/>
          <p:nvPr/>
        </p:nvSpPr>
        <p:spPr>
          <a:xfrm>
            <a:off x="1188720" y="3291840"/>
            <a:ext cx="749808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Een eigenaar voor de privacy-afspraken</a:t>
            </a:r>
            <a:endParaRPr lang="en-US" sz="1600" dirty="0"/>
          </a:p>
        </p:txBody>
      </p:sp>
      <p:sp>
        <p:nvSpPr>
          <p:cNvPr id="14" name="Text 12"/>
          <p:cNvSpPr txBox="1"/>
          <p:nvPr/>
        </p:nvSpPr>
        <p:spPr>
          <a:xfrm>
            <a:off x="1188720" y="3639312"/>
            <a:ext cx="7498080" cy="548640"/>
          </a:xfrm>
          <a:prstGeom prst="rect">
            <a:avLst/>
          </a:prstGeom>
          <a:noFill/>
          <a:ln/>
        </p:spPr>
        <p:txBody>
          <a:bodyPr wrap="square" lIns="0" tIns="0" rIns="0" bIns="0" rtlCol="0" anchor="t"/>
          <a:lstStyle/>
          <a:p>
            <a:pPr indent="0" marL="0">
              <a:buNone/>
            </a:pPr>
            <a:r>
              <a:rPr lang="en-US" sz="1250" dirty="0">
                <a:solidFill>
                  <a:srgbClr val="D9D2CA"/>
                </a:solidFill>
                <a:latin typeface="Calibri" pitchFamily="34" charset="0"/>
                <a:ea typeface="Calibri" pitchFamily="34" charset="-122"/>
                <a:cs typeface="Calibri" pitchFamily="34" charset="-120"/>
              </a:rPr>
              <a:t>Iemand die de verwerkersovereenkomst tekent en de privacyverklaring laat aanvullen.</a:t>
            </a:r>
            <a:endParaRPr lang="en-US" sz="1250" dirty="0"/>
          </a:p>
        </p:txBody>
      </p:sp>
      <p:sp>
        <p:nvSpPr>
          <p:cNvPr id="15" name="Text 13"/>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A69C91"/>
                </a:solidFill>
                <a:latin typeface="Calibri" pitchFamily="34" charset="0"/>
                <a:ea typeface="Calibri" pitchFamily="34" charset="-122"/>
                <a:cs typeface="Calibri" pitchFamily="34" charset="-120"/>
              </a:rPr>
              <a:t>Na een akkoord kan de proef binnen twee weken starten: de app staat er 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Een pas op je telefoon</dc:title>
  <dc:subject>PptxGenJS Presentation</dc:subject>
  <dc:creator>Voedselbank Haarlemmermeer</dc:creator>
  <cp:lastModifiedBy>Voedselbank Haarlemmermeer</cp:lastModifiedBy>
  <cp:revision>1</cp:revision>
  <dcterms:created xsi:type="dcterms:W3CDTF">2026-09-14T17:36:32Z</dcterms:created>
  <dcterms:modified xsi:type="dcterms:W3CDTF">2026-09-14T17:36:32Z</dcterms:modified>
</cp:coreProperties>
</file>